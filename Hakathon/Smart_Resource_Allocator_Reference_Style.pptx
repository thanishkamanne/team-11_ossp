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6" r:id="rId12"/>
    <p:sldId id="267" r:id="rId13"/>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Arc 1"/>
          <p:cNvSpPr/>
          <p:nvPr/>
        </p:nvSpPr>
        <p:spPr>
          <a:xfrm>
            <a:off x="-384048" y="-502920"/>
            <a:ext cx="1920240" cy="160020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rc 2"/>
          <p:cNvSpPr/>
          <p:nvPr/>
        </p:nvSpPr>
        <p:spPr>
          <a:xfrm>
            <a:off x="10835640" y="5715000"/>
            <a:ext cx="1828800" cy="155448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rc 3"/>
          <p:cNvSpPr/>
          <p:nvPr/>
        </p:nvSpPr>
        <p:spPr>
          <a:xfrm>
            <a:off x="-301751" y="-438912"/>
            <a:ext cx="1847088" cy="1545336"/>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rc 4"/>
          <p:cNvSpPr/>
          <p:nvPr/>
        </p:nvSpPr>
        <p:spPr>
          <a:xfrm>
            <a:off x="10899648" y="5769864"/>
            <a:ext cx="1773936" cy="150876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rc 5"/>
          <p:cNvSpPr/>
          <p:nvPr/>
        </p:nvSpPr>
        <p:spPr>
          <a:xfrm>
            <a:off x="-219456" y="-374904"/>
            <a:ext cx="1773936" cy="1490472"/>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rc 6"/>
          <p:cNvSpPr/>
          <p:nvPr/>
        </p:nvSpPr>
        <p:spPr>
          <a:xfrm>
            <a:off x="10963656" y="5824728"/>
            <a:ext cx="1719072" cy="1463039"/>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rc 7"/>
          <p:cNvSpPr/>
          <p:nvPr/>
        </p:nvSpPr>
        <p:spPr>
          <a:xfrm>
            <a:off x="-137159" y="-310896"/>
            <a:ext cx="1700784" cy="1435608"/>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rc 8"/>
          <p:cNvSpPr/>
          <p:nvPr/>
        </p:nvSpPr>
        <p:spPr>
          <a:xfrm>
            <a:off x="11027664" y="5879592"/>
            <a:ext cx="1664208" cy="1417319"/>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rc 9"/>
          <p:cNvSpPr/>
          <p:nvPr/>
        </p:nvSpPr>
        <p:spPr>
          <a:xfrm>
            <a:off x="-54864" y="-246888"/>
            <a:ext cx="1627632" cy="1380744"/>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rc 10"/>
          <p:cNvSpPr/>
          <p:nvPr/>
        </p:nvSpPr>
        <p:spPr>
          <a:xfrm>
            <a:off x="11091672" y="5934456"/>
            <a:ext cx="1609344" cy="137160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rc 11"/>
          <p:cNvSpPr/>
          <p:nvPr/>
        </p:nvSpPr>
        <p:spPr>
          <a:xfrm>
            <a:off x="27431" y="-182880"/>
            <a:ext cx="1554480" cy="132588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rc 12"/>
          <p:cNvSpPr/>
          <p:nvPr/>
        </p:nvSpPr>
        <p:spPr>
          <a:xfrm>
            <a:off x="11155680" y="5989320"/>
            <a:ext cx="1554480" cy="132588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rc 13"/>
          <p:cNvSpPr/>
          <p:nvPr/>
        </p:nvSpPr>
        <p:spPr>
          <a:xfrm>
            <a:off x="109728" y="-118872"/>
            <a:ext cx="1481328" cy="1271016"/>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rc 14"/>
          <p:cNvSpPr/>
          <p:nvPr/>
        </p:nvSpPr>
        <p:spPr>
          <a:xfrm>
            <a:off x="11219688" y="6044184"/>
            <a:ext cx="1499616" cy="128016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iamond 15"/>
          <p:cNvSpPr/>
          <p:nvPr/>
        </p:nvSpPr>
        <p:spPr>
          <a:xfrm>
            <a:off x="11292840" y="137160"/>
            <a:ext cx="438912" cy="822960"/>
          </a:xfrm>
          <a:prstGeom prst="diamond">
            <a:avLst/>
          </a:prstGeom>
          <a:solidFill>
            <a:srgbClr val="E2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amond 16"/>
          <p:cNvSpPr/>
          <p:nvPr/>
        </p:nvSpPr>
        <p:spPr>
          <a:xfrm>
            <a:off x="0" y="5303520"/>
            <a:ext cx="347472" cy="868680"/>
          </a:xfrm>
          <a:prstGeom prst="diamond">
            <a:avLst/>
          </a:prstGeom>
          <a:solidFill>
            <a:srgbClr val="E2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2159635"/>
            <a:ext cx="9418320" cy="626110"/>
          </a:xfrm>
          <a:prstGeom prst="rect">
            <a:avLst/>
          </a:prstGeom>
          <a:noFill/>
        </p:spPr>
        <p:txBody>
          <a:bodyPr wrap="square" lIns="36576" tIns="36576" rIns="36576" bIns="36576" anchor="ctr">
            <a:spAutoFit/>
          </a:bodyPr>
          <a:lstStyle/>
          <a:p>
            <a:pPr algn="ctr">
              <a:defRPr sz="3600" b="1">
                <a:solidFill>
                  <a:srgbClr val="375B75"/>
                </a:solidFill>
                <a:latin typeface="Aptos Display"/>
              </a:defRPr>
            </a:pPr>
            <a:r>
              <a:t>SMART RESOURCE</a:t>
            </a:r>
            <a:r>
              <a:rPr lang="en-US"/>
              <a:t> </a:t>
            </a:r>
            <a:r>
              <a:t>ALLOCATOR</a:t>
            </a:r>
          </a:p>
        </p:txBody>
      </p:sp>
      <p:sp>
        <p:nvSpPr>
          <p:cNvPr id="20" name="TextBox 19"/>
          <p:cNvSpPr txBox="1"/>
          <p:nvPr/>
        </p:nvSpPr>
        <p:spPr>
          <a:xfrm>
            <a:off x="4023360" y="3246120"/>
            <a:ext cx="4114800" cy="364490"/>
          </a:xfrm>
          <a:prstGeom prst="rect">
            <a:avLst/>
          </a:prstGeom>
          <a:noFill/>
        </p:spPr>
        <p:txBody>
          <a:bodyPr wrap="square" lIns="36576" tIns="36576" rIns="36576" bIns="36576" anchor="t">
            <a:spAutoFit/>
          </a:bodyPr>
          <a:lstStyle/>
          <a:p>
            <a:pPr algn="ctr">
              <a:defRPr sz="1900" b="0">
                <a:solidFill>
                  <a:srgbClr val="375B75"/>
                </a:solidFill>
                <a:latin typeface="Aptos"/>
              </a:defRPr>
            </a:pPr>
            <a:r>
              <a:t>OSSP </a:t>
            </a:r>
            <a:r>
              <a:rPr lang="en-US"/>
              <a:t>HACKATHON</a:t>
            </a:r>
            <a:endParaRPr lang="en-US"/>
          </a:p>
        </p:txBody>
      </p:sp>
      <p:sp>
        <p:nvSpPr>
          <p:cNvPr id="21" name="Rounded Rectangle 20"/>
          <p:cNvSpPr/>
          <p:nvPr/>
        </p:nvSpPr>
        <p:spPr>
          <a:xfrm>
            <a:off x="4572000" y="3200400"/>
            <a:ext cx="3063240" cy="475488"/>
          </a:xfrm>
          <a:prstGeom prst="roundRect">
            <a:avLst/>
          </a:prstGeom>
          <a:noFill/>
          <a:ln w="15240">
            <a:solidFill>
              <a:srgbClr val="375B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31920" y="4160520"/>
            <a:ext cx="4343400" cy="626110"/>
          </a:xfrm>
          <a:prstGeom prst="rect">
            <a:avLst/>
          </a:prstGeom>
          <a:noFill/>
        </p:spPr>
        <p:txBody>
          <a:bodyPr wrap="square" lIns="36576" tIns="36576" rIns="36576" bIns="36576" anchor="t">
            <a:spAutoFit/>
          </a:bodyPr>
          <a:lstStyle/>
          <a:p>
            <a:pPr algn="ctr">
              <a:defRPr sz="1600" b="1">
                <a:solidFill>
                  <a:srgbClr val="6E8FA3"/>
                </a:solidFill>
                <a:latin typeface="Aptos"/>
              </a:defRPr>
            </a:pPr>
            <a:r>
              <a:rPr sz="1800"/>
              <a:t>UNDER THE GUIDANCE OF</a:t>
            </a:r>
            <a:br>
              <a:rPr sz="1800"/>
            </a:br>
            <a:r>
              <a:rPr sz="1800"/>
              <a:t>SOUMYA</a:t>
            </a:r>
            <a:endParaRPr sz="1800"/>
          </a:p>
        </p:txBody>
      </p:sp>
      <p:sp>
        <p:nvSpPr>
          <p:cNvPr id="24" name="TextBox 23"/>
          <p:cNvSpPr txBox="1"/>
          <p:nvPr/>
        </p:nvSpPr>
        <p:spPr>
          <a:xfrm>
            <a:off x="1828800" y="5669280"/>
            <a:ext cx="8503920" cy="320040"/>
          </a:xfrm>
          <a:prstGeom prst="rect">
            <a:avLst/>
          </a:prstGeom>
          <a:noFill/>
        </p:spPr>
        <p:txBody>
          <a:bodyPr wrap="square" lIns="36576" tIns="36576" rIns="36576" bIns="36576" anchor="t">
            <a:spAutoFit/>
          </a:bodyPr>
          <a:lstStyle/>
          <a:p>
            <a:pPr algn="ctr">
              <a:defRPr sz="1300" b="0">
                <a:solidFill>
                  <a:srgbClr val="4A5B68"/>
                </a:solidFill>
                <a:latin typeface="Aptos"/>
              </a:defRPr>
            </a:pPr>
            <a:r>
              <a:t>Operating Systems • Linux • Banker’s Algorithm</a:t>
            </a:r>
          </a:p>
        </p:txBody>
      </p:sp>
      <p:pic>
        <p:nvPicPr>
          <p:cNvPr id="25" name="Picture 24" descr="Blue White and Gray Minimalist Professional Project Presentation"/>
          <p:cNvPicPr>
            <a:picLocks noChangeAspect="1"/>
          </p:cNvPicPr>
          <p:nvPr/>
        </p:nvPicPr>
        <p:blipFill>
          <a:blip r:embed="rId1"/>
          <a:stretch>
            <a:fillRect/>
          </a:stretch>
        </p:blipFill>
        <p:spPr>
          <a:xfrm>
            <a:off x="4023360" y="-12700"/>
            <a:ext cx="4171950" cy="1711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Arc 1"/>
          <p:cNvSpPr/>
          <p:nvPr/>
        </p:nvSpPr>
        <p:spPr>
          <a:xfrm>
            <a:off x="-384048" y="-502920"/>
            <a:ext cx="1920240" cy="160020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rc 2"/>
          <p:cNvSpPr/>
          <p:nvPr/>
        </p:nvSpPr>
        <p:spPr>
          <a:xfrm>
            <a:off x="10835640" y="5715000"/>
            <a:ext cx="1828800" cy="155448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rc 3"/>
          <p:cNvSpPr/>
          <p:nvPr/>
        </p:nvSpPr>
        <p:spPr>
          <a:xfrm>
            <a:off x="-301751" y="-438912"/>
            <a:ext cx="1847088" cy="1545336"/>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rc 4"/>
          <p:cNvSpPr/>
          <p:nvPr/>
        </p:nvSpPr>
        <p:spPr>
          <a:xfrm>
            <a:off x="10899648" y="5769864"/>
            <a:ext cx="1773936" cy="150876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rc 5"/>
          <p:cNvSpPr/>
          <p:nvPr/>
        </p:nvSpPr>
        <p:spPr>
          <a:xfrm>
            <a:off x="-219456" y="-374904"/>
            <a:ext cx="1773936" cy="1490472"/>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rc 6"/>
          <p:cNvSpPr/>
          <p:nvPr/>
        </p:nvSpPr>
        <p:spPr>
          <a:xfrm>
            <a:off x="10963656" y="5824728"/>
            <a:ext cx="1719072" cy="1463039"/>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rc 7"/>
          <p:cNvSpPr/>
          <p:nvPr/>
        </p:nvSpPr>
        <p:spPr>
          <a:xfrm>
            <a:off x="-137159" y="-310896"/>
            <a:ext cx="1700784" cy="1435608"/>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rc 8"/>
          <p:cNvSpPr/>
          <p:nvPr/>
        </p:nvSpPr>
        <p:spPr>
          <a:xfrm>
            <a:off x="11027664" y="5879592"/>
            <a:ext cx="1664208" cy="1417319"/>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rc 9"/>
          <p:cNvSpPr/>
          <p:nvPr/>
        </p:nvSpPr>
        <p:spPr>
          <a:xfrm>
            <a:off x="-54864" y="-246888"/>
            <a:ext cx="1627632" cy="1380744"/>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rc 10"/>
          <p:cNvSpPr/>
          <p:nvPr/>
        </p:nvSpPr>
        <p:spPr>
          <a:xfrm>
            <a:off x="11091672" y="5934456"/>
            <a:ext cx="1609344" cy="137160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rc 11"/>
          <p:cNvSpPr/>
          <p:nvPr/>
        </p:nvSpPr>
        <p:spPr>
          <a:xfrm>
            <a:off x="27431" y="-182880"/>
            <a:ext cx="1554480" cy="132588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rc 12"/>
          <p:cNvSpPr/>
          <p:nvPr/>
        </p:nvSpPr>
        <p:spPr>
          <a:xfrm>
            <a:off x="11155680" y="5989320"/>
            <a:ext cx="1554480" cy="132588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rc 13"/>
          <p:cNvSpPr/>
          <p:nvPr/>
        </p:nvSpPr>
        <p:spPr>
          <a:xfrm>
            <a:off x="109728" y="-118872"/>
            <a:ext cx="1481328" cy="1271016"/>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rc 14"/>
          <p:cNvSpPr/>
          <p:nvPr/>
        </p:nvSpPr>
        <p:spPr>
          <a:xfrm>
            <a:off x="11219688" y="6044184"/>
            <a:ext cx="1499616" cy="128016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iamond 15"/>
          <p:cNvSpPr/>
          <p:nvPr/>
        </p:nvSpPr>
        <p:spPr>
          <a:xfrm>
            <a:off x="11292840" y="137160"/>
            <a:ext cx="438912" cy="822960"/>
          </a:xfrm>
          <a:prstGeom prst="diamond">
            <a:avLst/>
          </a:prstGeom>
          <a:solidFill>
            <a:srgbClr val="E2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amond 16"/>
          <p:cNvSpPr/>
          <p:nvPr/>
        </p:nvSpPr>
        <p:spPr>
          <a:xfrm>
            <a:off x="0" y="5303520"/>
            <a:ext cx="347472" cy="868680"/>
          </a:xfrm>
          <a:prstGeom prst="diamond">
            <a:avLst/>
          </a:prstGeom>
          <a:solidFill>
            <a:srgbClr val="E2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145" y="576453"/>
            <a:ext cx="10058400" cy="530352"/>
          </a:xfrm>
          <a:prstGeom prst="rect">
            <a:avLst/>
          </a:prstGeom>
          <a:noFill/>
        </p:spPr>
        <p:txBody>
          <a:bodyPr wrap="square" lIns="36576" tIns="36576" rIns="36576" bIns="36576" anchor="t">
            <a:spAutoFit/>
          </a:bodyPr>
          <a:lstStyle/>
          <a:p>
            <a:pPr algn="ctr">
              <a:defRPr sz="2800" b="1">
                <a:solidFill>
                  <a:srgbClr val="375B75"/>
                </a:solidFill>
                <a:latin typeface="Aptos Display"/>
              </a:defRPr>
            </a:pPr>
            <a:r>
              <a:t>TEAM MEMBERS</a:t>
            </a:r>
          </a:p>
        </p:txBody>
      </p:sp>
      <p:sp>
        <p:nvSpPr>
          <p:cNvPr id="19" name="Rectangle 18"/>
          <p:cNvSpPr/>
          <p:nvPr/>
        </p:nvSpPr>
        <p:spPr>
          <a:xfrm>
            <a:off x="3077845" y="1452118"/>
            <a:ext cx="6263640" cy="22860"/>
          </a:xfrm>
          <a:prstGeom prst="rect">
            <a:avLst/>
          </a:prstGeom>
          <a:solidFill>
            <a:srgbClr val="6E8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881360" y="512064"/>
            <a:ext cx="457200" cy="228600"/>
          </a:xfrm>
          <a:prstGeom prst="rect">
            <a:avLst/>
          </a:prstGeom>
          <a:noFill/>
        </p:spPr>
        <p:txBody>
          <a:bodyPr wrap="square" lIns="36576" tIns="36576" rIns="36576" bIns="36576" anchor="t">
            <a:spAutoFit/>
          </a:bodyPr>
          <a:lstStyle/>
          <a:p>
            <a:pPr algn="r">
              <a:defRPr sz="900" b="1">
                <a:solidFill>
                  <a:srgbClr val="6E8FA3"/>
                </a:solidFill>
                <a:latin typeface="Aptos"/>
              </a:defRPr>
            </a:pPr>
            <a:r>
              <a:t>02</a:t>
            </a:r>
          </a:p>
        </p:txBody>
      </p:sp>
      <p:sp>
        <p:nvSpPr>
          <p:cNvPr id="21" name="Rounded Rectangle 20"/>
          <p:cNvSpPr/>
          <p:nvPr/>
        </p:nvSpPr>
        <p:spPr>
          <a:xfrm>
            <a:off x="3004820" y="1755775"/>
            <a:ext cx="2743200" cy="621792"/>
          </a:xfrm>
          <a:prstGeom prst="roundRect">
            <a:avLst/>
          </a:prstGeom>
          <a:solidFill>
            <a:srgbClr val="375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77972" y="1902079"/>
            <a:ext cx="2596896" cy="256032"/>
          </a:xfrm>
          <a:prstGeom prst="rect">
            <a:avLst/>
          </a:prstGeom>
          <a:noFill/>
        </p:spPr>
        <p:txBody>
          <a:bodyPr wrap="square" lIns="36576" tIns="36576" rIns="36576" bIns="36576" anchor="t">
            <a:spAutoFit/>
          </a:bodyPr>
          <a:lstStyle/>
          <a:p>
            <a:pPr algn="ctr">
              <a:defRPr sz="1600" b="0">
                <a:solidFill>
                  <a:srgbClr val="FFFFFF"/>
                </a:solidFill>
                <a:latin typeface="Aptos"/>
              </a:defRPr>
            </a:pPr>
            <a:r>
              <a:t>2520030204</a:t>
            </a:r>
          </a:p>
        </p:txBody>
      </p:sp>
      <p:sp>
        <p:nvSpPr>
          <p:cNvPr id="23" name="Rounded Rectangle 22"/>
          <p:cNvSpPr/>
          <p:nvPr/>
        </p:nvSpPr>
        <p:spPr>
          <a:xfrm>
            <a:off x="6022340" y="1755775"/>
            <a:ext cx="3657600" cy="621792"/>
          </a:xfrm>
          <a:prstGeom prst="roundRect">
            <a:avLst/>
          </a:prstGeom>
          <a:solidFill>
            <a:srgbClr val="375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95492" y="1902079"/>
            <a:ext cx="3511296" cy="256032"/>
          </a:xfrm>
          <a:prstGeom prst="rect">
            <a:avLst/>
          </a:prstGeom>
          <a:noFill/>
        </p:spPr>
        <p:txBody>
          <a:bodyPr wrap="square" lIns="36576" tIns="36576" rIns="36576" bIns="36576" anchor="t">
            <a:spAutoFit/>
          </a:bodyPr>
          <a:lstStyle/>
          <a:p>
            <a:pPr algn="ctr">
              <a:defRPr sz="1600" b="0">
                <a:solidFill>
                  <a:srgbClr val="FFFFFF"/>
                </a:solidFill>
                <a:latin typeface="Aptos"/>
              </a:defRPr>
            </a:pPr>
            <a:r>
              <a:t>K. Joshi Rushitha</a:t>
            </a:r>
          </a:p>
        </p:txBody>
      </p:sp>
      <p:sp>
        <p:nvSpPr>
          <p:cNvPr id="25" name="Rounded Rectangle 24"/>
          <p:cNvSpPr/>
          <p:nvPr/>
        </p:nvSpPr>
        <p:spPr>
          <a:xfrm>
            <a:off x="3004820" y="2807335"/>
            <a:ext cx="2743200" cy="621792"/>
          </a:xfrm>
          <a:prstGeom prst="roundRect">
            <a:avLst/>
          </a:prstGeom>
          <a:solidFill>
            <a:srgbClr val="375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77972" y="2953639"/>
            <a:ext cx="2596896" cy="256032"/>
          </a:xfrm>
          <a:prstGeom prst="rect">
            <a:avLst/>
          </a:prstGeom>
          <a:noFill/>
        </p:spPr>
        <p:txBody>
          <a:bodyPr wrap="square" lIns="36576" tIns="36576" rIns="36576" bIns="36576" anchor="t">
            <a:spAutoFit/>
          </a:bodyPr>
          <a:lstStyle/>
          <a:p>
            <a:pPr algn="ctr">
              <a:defRPr sz="1600" b="0">
                <a:solidFill>
                  <a:srgbClr val="FFFFFF"/>
                </a:solidFill>
                <a:latin typeface="Aptos"/>
              </a:defRPr>
            </a:pPr>
            <a:r>
              <a:t>2520030583</a:t>
            </a:r>
          </a:p>
        </p:txBody>
      </p:sp>
      <p:sp>
        <p:nvSpPr>
          <p:cNvPr id="27" name="Rounded Rectangle 26"/>
          <p:cNvSpPr/>
          <p:nvPr/>
        </p:nvSpPr>
        <p:spPr>
          <a:xfrm>
            <a:off x="6022340" y="2807335"/>
            <a:ext cx="3657600" cy="621792"/>
          </a:xfrm>
          <a:prstGeom prst="roundRect">
            <a:avLst/>
          </a:prstGeom>
          <a:solidFill>
            <a:srgbClr val="375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95492" y="2953639"/>
            <a:ext cx="3511296" cy="256032"/>
          </a:xfrm>
          <a:prstGeom prst="rect">
            <a:avLst/>
          </a:prstGeom>
          <a:noFill/>
        </p:spPr>
        <p:txBody>
          <a:bodyPr wrap="square" lIns="36576" tIns="36576" rIns="36576" bIns="36576" anchor="t">
            <a:spAutoFit/>
          </a:bodyPr>
          <a:lstStyle/>
          <a:p>
            <a:pPr algn="ctr">
              <a:defRPr sz="1600" b="0">
                <a:solidFill>
                  <a:srgbClr val="FFFFFF"/>
                </a:solidFill>
                <a:latin typeface="Aptos"/>
              </a:defRPr>
            </a:pPr>
            <a:r>
              <a:t>M. Thanishka</a:t>
            </a:r>
          </a:p>
        </p:txBody>
      </p:sp>
      <p:sp>
        <p:nvSpPr>
          <p:cNvPr id="29" name="Rounded Rectangle 28"/>
          <p:cNvSpPr/>
          <p:nvPr/>
        </p:nvSpPr>
        <p:spPr>
          <a:xfrm>
            <a:off x="3004820" y="3858894"/>
            <a:ext cx="2743200" cy="621792"/>
          </a:xfrm>
          <a:prstGeom prst="roundRect">
            <a:avLst/>
          </a:prstGeom>
          <a:solidFill>
            <a:srgbClr val="375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77972" y="4005199"/>
            <a:ext cx="2596896" cy="256032"/>
          </a:xfrm>
          <a:prstGeom prst="rect">
            <a:avLst/>
          </a:prstGeom>
          <a:noFill/>
        </p:spPr>
        <p:txBody>
          <a:bodyPr wrap="square" lIns="36576" tIns="36576" rIns="36576" bIns="36576" anchor="t">
            <a:spAutoFit/>
          </a:bodyPr>
          <a:lstStyle/>
          <a:p>
            <a:pPr algn="ctr">
              <a:defRPr sz="1600" b="0">
                <a:solidFill>
                  <a:srgbClr val="FFFFFF"/>
                </a:solidFill>
                <a:latin typeface="Aptos"/>
              </a:defRPr>
            </a:pPr>
            <a:r>
              <a:t>2520030516</a:t>
            </a:r>
          </a:p>
        </p:txBody>
      </p:sp>
      <p:sp>
        <p:nvSpPr>
          <p:cNvPr id="31" name="Rounded Rectangle 30"/>
          <p:cNvSpPr/>
          <p:nvPr/>
        </p:nvSpPr>
        <p:spPr>
          <a:xfrm>
            <a:off x="6022340" y="3858894"/>
            <a:ext cx="3657600" cy="621792"/>
          </a:xfrm>
          <a:prstGeom prst="roundRect">
            <a:avLst/>
          </a:prstGeom>
          <a:solidFill>
            <a:srgbClr val="375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95492" y="4005199"/>
            <a:ext cx="3511296" cy="256032"/>
          </a:xfrm>
          <a:prstGeom prst="rect">
            <a:avLst/>
          </a:prstGeom>
          <a:noFill/>
        </p:spPr>
        <p:txBody>
          <a:bodyPr wrap="square" lIns="36576" tIns="36576" rIns="36576" bIns="36576" anchor="t">
            <a:spAutoFit/>
          </a:bodyPr>
          <a:lstStyle/>
          <a:p>
            <a:pPr algn="ctr">
              <a:defRPr sz="1600" b="0">
                <a:solidFill>
                  <a:srgbClr val="FFFFFF"/>
                </a:solidFill>
                <a:latin typeface="Aptos"/>
              </a:defRPr>
            </a:pPr>
            <a:r>
              <a:t>M. Akshaya</a:t>
            </a:r>
          </a:p>
        </p:txBody>
      </p:sp>
      <p:sp>
        <p:nvSpPr>
          <p:cNvPr id="33" name="TextBox 32"/>
          <p:cNvSpPr txBox="1"/>
          <p:nvPr/>
        </p:nvSpPr>
        <p:spPr>
          <a:xfrm>
            <a:off x="4206240" y="5257800"/>
            <a:ext cx="3657600" cy="320040"/>
          </a:xfrm>
          <a:prstGeom prst="rect">
            <a:avLst/>
          </a:prstGeom>
          <a:noFill/>
        </p:spPr>
        <p:txBody>
          <a:bodyPr wrap="square" lIns="36576" tIns="36576" rIns="36576" bIns="36576" anchor="t">
            <a:spAutoFit/>
          </a:bodyPr>
          <a:lstStyle/>
          <a:p>
            <a:pPr algn="ctr">
              <a:defRPr sz="1400" b="1">
                <a:solidFill>
                  <a:srgbClr val="6E8FA3"/>
                </a:solidFill>
                <a:latin typeface="Aptos"/>
              </a:defRPr>
            </a:pPr>
            <a:r>
              <a:t>OSSP Project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Arc 1"/>
          <p:cNvSpPr/>
          <p:nvPr/>
        </p:nvSpPr>
        <p:spPr>
          <a:xfrm>
            <a:off x="-384048" y="-502920"/>
            <a:ext cx="1920240" cy="160020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rc 2"/>
          <p:cNvSpPr/>
          <p:nvPr/>
        </p:nvSpPr>
        <p:spPr>
          <a:xfrm>
            <a:off x="10835640" y="5715000"/>
            <a:ext cx="1828800" cy="155448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rc 3"/>
          <p:cNvSpPr/>
          <p:nvPr/>
        </p:nvSpPr>
        <p:spPr>
          <a:xfrm>
            <a:off x="-301751" y="-438912"/>
            <a:ext cx="1847088" cy="1545336"/>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rc 4"/>
          <p:cNvSpPr/>
          <p:nvPr/>
        </p:nvSpPr>
        <p:spPr>
          <a:xfrm>
            <a:off x="10899648" y="5769864"/>
            <a:ext cx="1773936" cy="150876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rc 5"/>
          <p:cNvSpPr/>
          <p:nvPr/>
        </p:nvSpPr>
        <p:spPr>
          <a:xfrm>
            <a:off x="-219456" y="-374904"/>
            <a:ext cx="1773936" cy="1490472"/>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rc 6"/>
          <p:cNvSpPr/>
          <p:nvPr/>
        </p:nvSpPr>
        <p:spPr>
          <a:xfrm>
            <a:off x="10963656" y="5824728"/>
            <a:ext cx="1719072" cy="1463039"/>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rc 7"/>
          <p:cNvSpPr/>
          <p:nvPr/>
        </p:nvSpPr>
        <p:spPr>
          <a:xfrm>
            <a:off x="-137159" y="-310896"/>
            <a:ext cx="1700784" cy="1435608"/>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rc 8"/>
          <p:cNvSpPr/>
          <p:nvPr/>
        </p:nvSpPr>
        <p:spPr>
          <a:xfrm>
            <a:off x="11027664" y="5879592"/>
            <a:ext cx="1664208" cy="1417319"/>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rc 9"/>
          <p:cNvSpPr/>
          <p:nvPr/>
        </p:nvSpPr>
        <p:spPr>
          <a:xfrm>
            <a:off x="-54864" y="-246888"/>
            <a:ext cx="1627632" cy="1380744"/>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rc 10"/>
          <p:cNvSpPr/>
          <p:nvPr/>
        </p:nvSpPr>
        <p:spPr>
          <a:xfrm>
            <a:off x="11091672" y="5934456"/>
            <a:ext cx="1609344" cy="137160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rc 11"/>
          <p:cNvSpPr/>
          <p:nvPr/>
        </p:nvSpPr>
        <p:spPr>
          <a:xfrm>
            <a:off x="27431" y="-182880"/>
            <a:ext cx="1554480" cy="132588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rc 12"/>
          <p:cNvSpPr/>
          <p:nvPr/>
        </p:nvSpPr>
        <p:spPr>
          <a:xfrm>
            <a:off x="11155680" y="5989320"/>
            <a:ext cx="1554480" cy="132588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rc 13"/>
          <p:cNvSpPr/>
          <p:nvPr/>
        </p:nvSpPr>
        <p:spPr>
          <a:xfrm>
            <a:off x="109728" y="-118872"/>
            <a:ext cx="1481328" cy="1271016"/>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rc 14"/>
          <p:cNvSpPr/>
          <p:nvPr/>
        </p:nvSpPr>
        <p:spPr>
          <a:xfrm>
            <a:off x="11219688" y="6044184"/>
            <a:ext cx="1499616" cy="128016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iamond 15"/>
          <p:cNvSpPr/>
          <p:nvPr/>
        </p:nvSpPr>
        <p:spPr>
          <a:xfrm>
            <a:off x="11292840" y="137160"/>
            <a:ext cx="438912" cy="822960"/>
          </a:xfrm>
          <a:prstGeom prst="diamond">
            <a:avLst/>
          </a:prstGeom>
          <a:solidFill>
            <a:srgbClr val="E2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amond 16"/>
          <p:cNvSpPr/>
          <p:nvPr/>
        </p:nvSpPr>
        <p:spPr>
          <a:xfrm>
            <a:off x="0" y="5303520"/>
            <a:ext cx="347472" cy="868680"/>
          </a:xfrm>
          <a:prstGeom prst="diamond">
            <a:avLst/>
          </a:prstGeom>
          <a:solidFill>
            <a:srgbClr val="E2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475488"/>
            <a:ext cx="10058400" cy="530352"/>
          </a:xfrm>
          <a:prstGeom prst="rect">
            <a:avLst/>
          </a:prstGeom>
          <a:noFill/>
        </p:spPr>
        <p:txBody>
          <a:bodyPr wrap="square" lIns="36576" tIns="36576" rIns="36576" bIns="36576" anchor="t">
            <a:spAutoFit/>
          </a:bodyPr>
          <a:lstStyle/>
          <a:p>
            <a:pPr algn="ctr">
              <a:defRPr sz="2800" b="1">
                <a:solidFill>
                  <a:srgbClr val="375B75"/>
                </a:solidFill>
                <a:latin typeface="Aptos Display"/>
              </a:defRPr>
            </a:pPr>
            <a:r>
              <a:t>ABSTRACT</a:t>
            </a:r>
          </a:p>
        </p:txBody>
      </p:sp>
      <p:sp>
        <p:nvSpPr>
          <p:cNvPr id="19" name="Rectangle 18"/>
          <p:cNvSpPr/>
          <p:nvPr/>
        </p:nvSpPr>
        <p:spPr>
          <a:xfrm>
            <a:off x="2971800" y="1115568"/>
            <a:ext cx="6263640" cy="22860"/>
          </a:xfrm>
          <a:prstGeom prst="rect">
            <a:avLst/>
          </a:prstGeom>
          <a:solidFill>
            <a:srgbClr val="6E8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881360" y="512064"/>
            <a:ext cx="457200" cy="228600"/>
          </a:xfrm>
          <a:prstGeom prst="rect">
            <a:avLst/>
          </a:prstGeom>
          <a:noFill/>
        </p:spPr>
        <p:txBody>
          <a:bodyPr wrap="square" lIns="36576" tIns="36576" rIns="36576" bIns="36576" anchor="t">
            <a:spAutoFit/>
          </a:bodyPr>
          <a:lstStyle/>
          <a:p>
            <a:pPr algn="r">
              <a:defRPr sz="900" b="1">
                <a:solidFill>
                  <a:srgbClr val="6E8FA3"/>
                </a:solidFill>
                <a:latin typeface="Aptos"/>
              </a:defRPr>
            </a:pPr>
            <a:r>
              <a:t>03</a:t>
            </a:r>
          </a:p>
        </p:txBody>
      </p:sp>
      <p:sp>
        <p:nvSpPr>
          <p:cNvPr id="21" name="TextBox 20"/>
          <p:cNvSpPr txBox="1"/>
          <p:nvPr/>
        </p:nvSpPr>
        <p:spPr>
          <a:xfrm>
            <a:off x="2181860" y="1961833"/>
            <a:ext cx="7797165" cy="2660015"/>
          </a:xfrm>
          <a:prstGeom prst="rect">
            <a:avLst/>
          </a:prstGeom>
          <a:noFill/>
        </p:spPr>
        <p:txBody>
          <a:bodyPr wrap="square" tIns="91440" bIns="91440" anchor="ctr">
            <a:spAutoFit/>
          </a:bodyPr>
          <a:lstStyle/>
          <a:p>
            <a:pPr algn="just">
              <a:defRPr sz="2100" b="0">
                <a:solidFill>
                  <a:srgbClr val="4A5B68"/>
                </a:solidFill>
                <a:latin typeface="Aptos"/>
              </a:defRPr>
            </a:pPr>
            <a:r>
              <a:rPr sz="2300">
                <a:latin typeface="Times New Roman" panose="02020603050405020304" charset="0"/>
                <a:cs typeface="Times New Roman" panose="02020603050405020304" charset="0"/>
              </a:rPr>
              <a:t>Smart Resource Allocator is a Linux-based web dashboard that shows live system activity and helps manage app-created worker processes. It displays CPU and memory usage, process details and resource availability. Banker’s Algorithm checks whether a CPU/RAM request can be granted safely. The project brings key Operating Systems concepts into one simple, interactive interface.</a:t>
            </a:r>
            <a:endParaRPr sz="2300">
              <a:latin typeface="Times New Roman" panose="02020603050405020304" charset="0"/>
              <a:cs typeface="Times New Roman" panose="02020603050405020304" charset="0"/>
            </a:endParaRPr>
          </a:p>
        </p:txBody>
      </p:sp>
      <p:sp>
        <p:nvSpPr>
          <p:cNvPr id="22" name="TextBox 21"/>
          <p:cNvSpPr txBox="1"/>
          <p:nvPr/>
        </p:nvSpPr>
        <p:spPr>
          <a:xfrm>
            <a:off x="1554480" y="5212080"/>
            <a:ext cx="9144000" cy="365760"/>
          </a:xfrm>
          <a:prstGeom prst="rect">
            <a:avLst/>
          </a:prstGeom>
          <a:noFill/>
        </p:spPr>
        <p:txBody>
          <a:bodyPr wrap="square" lIns="36576" tIns="36576" rIns="36576" bIns="36576" anchor="t">
            <a:spAutoFit/>
          </a:bodyPr>
          <a:lstStyle/>
          <a:p>
            <a:pPr algn="ctr">
              <a:defRPr sz="1500" b="1">
                <a:solidFill>
                  <a:srgbClr val="375B75"/>
                </a:solidFill>
                <a:latin typeface="Aptos"/>
              </a:defRPr>
            </a:pPr>
            <a:r>
              <a:t>Live Linux data  •  Process control  •  Deadlock avoidance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Arc 1"/>
          <p:cNvSpPr/>
          <p:nvPr/>
        </p:nvSpPr>
        <p:spPr>
          <a:xfrm>
            <a:off x="-384048" y="-502920"/>
            <a:ext cx="1920240" cy="160020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rc 2"/>
          <p:cNvSpPr/>
          <p:nvPr/>
        </p:nvSpPr>
        <p:spPr>
          <a:xfrm>
            <a:off x="10835640" y="5715000"/>
            <a:ext cx="1828800" cy="155448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rc 3"/>
          <p:cNvSpPr/>
          <p:nvPr/>
        </p:nvSpPr>
        <p:spPr>
          <a:xfrm>
            <a:off x="-301751" y="-438912"/>
            <a:ext cx="1847088" cy="1545336"/>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rc 4"/>
          <p:cNvSpPr/>
          <p:nvPr/>
        </p:nvSpPr>
        <p:spPr>
          <a:xfrm>
            <a:off x="10899648" y="5769864"/>
            <a:ext cx="1773936" cy="150876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rc 5"/>
          <p:cNvSpPr/>
          <p:nvPr/>
        </p:nvSpPr>
        <p:spPr>
          <a:xfrm>
            <a:off x="-219456" y="-374904"/>
            <a:ext cx="1773936" cy="1490472"/>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rc 6"/>
          <p:cNvSpPr/>
          <p:nvPr/>
        </p:nvSpPr>
        <p:spPr>
          <a:xfrm>
            <a:off x="10963656" y="5824728"/>
            <a:ext cx="1719072" cy="1463039"/>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rc 7"/>
          <p:cNvSpPr/>
          <p:nvPr/>
        </p:nvSpPr>
        <p:spPr>
          <a:xfrm>
            <a:off x="-137159" y="-310896"/>
            <a:ext cx="1700784" cy="1435608"/>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rc 8"/>
          <p:cNvSpPr/>
          <p:nvPr/>
        </p:nvSpPr>
        <p:spPr>
          <a:xfrm>
            <a:off x="11027664" y="5879592"/>
            <a:ext cx="1664208" cy="1417319"/>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rc 9"/>
          <p:cNvSpPr/>
          <p:nvPr/>
        </p:nvSpPr>
        <p:spPr>
          <a:xfrm>
            <a:off x="-54864" y="-246888"/>
            <a:ext cx="1627632" cy="1380744"/>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rc 10"/>
          <p:cNvSpPr/>
          <p:nvPr/>
        </p:nvSpPr>
        <p:spPr>
          <a:xfrm>
            <a:off x="11091672" y="5934456"/>
            <a:ext cx="1609344" cy="137160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rc 11"/>
          <p:cNvSpPr/>
          <p:nvPr/>
        </p:nvSpPr>
        <p:spPr>
          <a:xfrm>
            <a:off x="27431" y="-182880"/>
            <a:ext cx="1554480" cy="132588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rc 12"/>
          <p:cNvSpPr/>
          <p:nvPr/>
        </p:nvSpPr>
        <p:spPr>
          <a:xfrm>
            <a:off x="11155680" y="5989320"/>
            <a:ext cx="1554480" cy="132588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rc 13"/>
          <p:cNvSpPr/>
          <p:nvPr/>
        </p:nvSpPr>
        <p:spPr>
          <a:xfrm>
            <a:off x="109728" y="-118872"/>
            <a:ext cx="1481328" cy="1271016"/>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rc 14"/>
          <p:cNvSpPr/>
          <p:nvPr/>
        </p:nvSpPr>
        <p:spPr>
          <a:xfrm>
            <a:off x="11219688" y="6044184"/>
            <a:ext cx="1499616" cy="128016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iamond 15"/>
          <p:cNvSpPr/>
          <p:nvPr/>
        </p:nvSpPr>
        <p:spPr>
          <a:xfrm>
            <a:off x="11292840" y="137160"/>
            <a:ext cx="438912" cy="822960"/>
          </a:xfrm>
          <a:prstGeom prst="diamond">
            <a:avLst/>
          </a:prstGeom>
          <a:solidFill>
            <a:srgbClr val="E2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amond 16"/>
          <p:cNvSpPr/>
          <p:nvPr/>
        </p:nvSpPr>
        <p:spPr>
          <a:xfrm>
            <a:off x="0" y="5303520"/>
            <a:ext cx="347472" cy="868680"/>
          </a:xfrm>
          <a:prstGeom prst="diamond">
            <a:avLst/>
          </a:prstGeom>
          <a:solidFill>
            <a:srgbClr val="E2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510" y="801878"/>
            <a:ext cx="10058400" cy="530352"/>
          </a:xfrm>
          <a:prstGeom prst="rect">
            <a:avLst/>
          </a:prstGeom>
          <a:noFill/>
        </p:spPr>
        <p:txBody>
          <a:bodyPr wrap="square" lIns="36576" tIns="36576" rIns="36576" bIns="36576" anchor="t">
            <a:spAutoFit/>
          </a:bodyPr>
          <a:lstStyle/>
          <a:p>
            <a:pPr algn="ctr">
              <a:defRPr sz="2800" b="1">
                <a:solidFill>
                  <a:srgbClr val="375B75"/>
                </a:solidFill>
                <a:latin typeface="Aptos Display"/>
              </a:defRPr>
            </a:pPr>
            <a:r>
              <a:t>INTRODUCTION</a:t>
            </a:r>
          </a:p>
        </p:txBody>
      </p:sp>
      <p:sp>
        <p:nvSpPr>
          <p:cNvPr id="19" name="Rectangle 18"/>
          <p:cNvSpPr/>
          <p:nvPr/>
        </p:nvSpPr>
        <p:spPr>
          <a:xfrm>
            <a:off x="2971800" y="1704213"/>
            <a:ext cx="6263640" cy="22860"/>
          </a:xfrm>
          <a:prstGeom prst="rect">
            <a:avLst/>
          </a:prstGeom>
          <a:solidFill>
            <a:srgbClr val="6E8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881360" y="512064"/>
            <a:ext cx="457200" cy="228600"/>
          </a:xfrm>
          <a:prstGeom prst="rect">
            <a:avLst/>
          </a:prstGeom>
          <a:noFill/>
        </p:spPr>
        <p:txBody>
          <a:bodyPr wrap="square" lIns="36576" tIns="36576" rIns="36576" bIns="36576" anchor="t">
            <a:spAutoFit/>
          </a:bodyPr>
          <a:lstStyle/>
          <a:p>
            <a:pPr algn="r">
              <a:defRPr sz="900" b="1">
                <a:solidFill>
                  <a:srgbClr val="6E8FA3"/>
                </a:solidFill>
                <a:latin typeface="Aptos"/>
              </a:defRPr>
            </a:pPr>
            <a:r>
              <a:t>04</a:t>
            </a:r>
          </a:p>
        </p:txBody>
      </p:sp>
      <p:sp>
        <p:nvSpPr>
          <p:cNvPr id="21" name="TextBox 20"/>
          <p:cNvSpPr txBox="1"/>
          <p:nvPr/>
        </p:nvSpPr>
        <p:spPr>
          <a:xfrm>
            <a:off x="2672715" y="2098993"/>
            <a:ext cx="7114540" cy="2660015"/>
          </a:xfrm>
          <a:prstGeom prst="rect">
            <a:avLst/>
          </a:prstGeom>
          <a:noFill/>
        </p:spPr>
        <p:txBody>
          <a:bodyPr wrap="square" tIns="91440" bIns="91440" anchor="ctr">
            <a:spAutoFit/>
          </a:bodyPr>
          <a:lstStyle/>
          <a:p>
            <a:pPr algn="just">
              <a:defRPr sz="2100" b="0">
                <a:solidFill>
                  <a:srgbClr val="4A5B68"/>
                </a:solidFill>
                <a:latin typeface="Aptos"/>
              </a:defRPr>
            </a:pPr>
            <a:r>
              <a:rPr sz="2300">
                <a:latin typeface="Times New Roman" panose="02020603050405020304" charset="0"/>
                <a:cs typeface="Times New Roman" panose="02020603050405020304" charset="0"/>
              </a:rPr>
              <a:t>Operating systems manage CPU time, memory and running processes. These resources can become busy when several processes run together. Our project makes this activity easier to understand through a browser dashboard. It reads live information from Linux and demonstrates how Banker’s Algorithm can help avoid unsafe resource allocation.</a:t>
            </a:r>
            <a:endParaRPr sz="2300">
              <a:latin typeface="Times New Roman" panose="02020603050405020304" charset="0"/>
              <a:cs typeface="Times New Roman" panose="02020603050405020304" charset="0"/>
            </a:endParaRPr>
          </a:p>
        </p:txBody>
      </p:sp>
      <p:sp>
        <p:nvSpPr>
          <p:cNvPr id="22" name="TextBox 21"/>
          <p:cNvSpPr txBox="1"/>
          <p:nvPr/>
        </p:nvSpPr>
        <p:spPr>
          <a:xfrm>
            <a:off x="1554480" y="5257800"/>
            <a:ext cx="9144000" cy="502920"/>
          </a:xfrm>
          <a:prstGeom prst="rect">
            <a:avLst/>
          </a:prstGeom>
          <a:noFill/>
        </p:spPr>
        <p:txBody>
          <a:bodyPr wrap="square" lIns="36576" tIns="36576" rIns="36576" bIns="36576" anchor="t">
            <a:spAutoFit/>
          </a:bodyPr>
          <a:lstStyle/>
          <a:p>
            <a:pPr algn="ctr">
              <a:defRPr sz="1700" b="1">
                <a:solidFill>
                  <a:srgbClr val="375B75"/>
                </a:solidFill>
                <a:latin typeface="Aptos"/>
              </a:defRPr>
            </a:pPr>
            <a:r>
              <a:t>Goal: make system status visible and resource decisions easier to explain.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Arc 1"/>
          <p:cNvSpPr/>
          <p:nvPr/>
        </p:nvSpPr>
        <p:spPr>
          <a:xfrm>
            <a:off x="-384048" y="-502920"/>
            <a:ext cx="1920240" cy="160020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rc 2"/>
          <p:cNvSpPr/>
          <p:nvPr/>
        </p:nvSpPr>
        <p:spPr>
          <a:xfrm>
            <a:off x="10835640" y="5715000"/>
            <a:ext cx="1828800" cy="155448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rc 3"/>
          <p:cNvSpPr/>
          <p:nvPr/>
        </p:nvSpPr>
        <p:spPr>
          <a:xfrm>
            <a:off x="-301751" y="-438912"/>
            <a:ext cx="1847088" cy="1545336"/>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rc 4"/>
          <p:cNvSpPr/>
          <p:nvPr/>
        </p:nvSpPr>
        <p:spPr>
          <a:xfrm>
            <a:off x="10899648" y="5769864"/>
            <a:ext cx="1773936" cy="150876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rc 5"/>
          <p:cNvSpPr/>
          <p:nvPr/>
        </p:nvSpPr>
        <p:spPr>
          <a:xfrm>
            <a:off x="-219456" y="-374904"/>
            <a:ext cx="1773936" cy="1490472"/>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rc 6"/>
          <p:cNvSpPr/>
          <p:nvPr/>
        </p:nvSpPr>
        <p:spPr>
          <a:xfrm>
            <a:off x="10963656" y="5824728"/>
            <a:ext cx="1719072" cy="1463039"/>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rc 7"/>
          <p:cNvSpPr/>
          <p:nvPr/>
        </p:nvSpPr>
        <p:spPr>
          <a:xfrm>
            <a:off x="-137159" y="-310896"/>
            <a:ext cx="1700784" cy="1435608"/>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rc 8"/>
          <p:cNvSpPr/>
          <p:nvPr/>
        </p:nvSpPr>
        <p:spPr>
          <a:xfrm>
            <a:off x="11027664" y="5879592"/>
            <a:ext cx="1664208" cy="1417319"/>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rc 9"/>
          <p:cNvSpPr/>
          <p:nvPr/>
        </p:nvSpPr>
        <p:spPr>
          <a:xfrm>
            <a:off x="-54864" y="-246888"/>
            <a:ext cx="1627632" cy="1380744"/>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rc 10"/>
          <p:cNvSpPr/>
          <p:nvPr/>
        </p:nvSpPr>
        <p:spPr>
          <a:xfrm>
            <a:off x="11091672" y="5934456"/>
            <a:ext cx="1609344" cy="137160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rc 11"/>
          <p:cNvSpPr/>
          <p:nvPr/>
        </p:nvSpPr>
        <p:spPr>
          <a:xfrm>
            <a:off x="27431" y="-182880"/>
            <a:ext cx="1554480" cy="132588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rc 12"/>
          <p:cNvSpPr/>
          <p:nvPr/>
        </p:nvSpPr>
        <p:spPr>
          <a:xfrm>
            <a:off x="11155680" y="5989320"/>
            <a:ext cx="1554480" cy="132588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rc 13"/>
          <p:cNvSpPr/>
          <p:nvPr/>
        </p:nvSpPr>
        <p:spPr>
          <a:xfrm>
            <a:off x="109728" y="-118872"/>
            <a:ext cx="1481328" cy="1271016"/>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rc 14"/>
          <p:cNvSpPr/>
          <p:nvPr/>
        </p:nvSpPr>
        <p:spPr>
          <a:xfrm>
            <a:off x="11219688" y="6044184"/>
            <a:ext cx="1499616" cy="128016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iamond 15"/>
          <p:cNvSpPr/>
          <p:nvPr/>
        </p:nvSpPr>
        <p:spPr>
          <a:xfrm>
            <a:off x="11292840" y="137160"/>
            <a:ext cx="438912" cy="822960"/>
          </a:xfrm>
          <a:prstGeom prst="diamond">
            <a:avLst/>
          </a:prstGeom>
          <a:solidFill>
            <a:srgbClr val="E2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amond 16"/>
          <p:cNvSpPr/>
          <p:nvPr/>
        </p:nvSpPr>
        <p:spPr>
          <a:xfrm>
            <a:off x="0" y="5303520"/>
            <a:ext cx="347472" cy="868680"/>
          </a:xfrm>
          <a:prstGeom prst="diamond">
            <a:avLst/>
          </a:prstGeom>
          <a:solidFill>
            <a:srgbClr val="E2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475488"/>
            <a:ext cx="10058400" cy="530352"/>
          </a:xfrm>
          <a:prstGeom prst="rect">
            <a:avLst/>
          </a:prstGeom>
          <a:noFill/>
        </p:spPr>
        <p:txBody>
          <a:bodyPr wrap="square" lIns="36576" tIns="36576" rIns="36576" bIns="36576" anchor="t">
            <a:spAutoFit/>
          </a:bodyPr>
          <a:lstStyle/>
          <a:p>
            <a:pPr algn="ctr">
              <a:defRPr sz="2800" b="1">
                <a:solidFill>
                  <a:srgbClr val="375B75"/>
                </a:solidFill>
                <a:latin typeface="Aptos Display"/>
              </a:defRPr>
            </a:pPr>
            <a:r>
              <a:t>EXISTING SYSTEM VS PROPOSED SYSTEM</a:t>
            </a:r>
          </a:p>
        </p:txBody>
      </p:sp>
      <p:sp>
        <p:nvSpPr>
          <p:cNvPr id="19" name="Rectangle 18"/>
          <p:cNvSpPr/>
          <p:nvPr/>
        </p:nvSpPr>
        <p:spPr>
          <a:xfrm>
            <a:off x="2971800" y="1115568"/>
            <a:ext cx="6263640" cy="22860"/>
          </a:xfrm>
          <a:prstGeom prst="rect">
            <a:avLst/>
          </a:prstGeom>
          <a:solidFill>
            <a:srgbClr val="6E8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881360" y="512064"/>
            <a:ext cx="457200" cy="228600"/>
          </a:xfrm>
          <a:prstGeom prst="rect">
            <a:avLst/>
          </a:prstGeom>
          <a:noFill/>
        </p:spPr>
        <p:txBody>
          <a:bodyPr wrap="square" lIns="36576" tIns="36576" rIns="36576" bIns="36576" anchor="t">
            <a:spAutoFit/>
          </a:bodyPr>
          <a:lstStyle/>
          <a:p>
            <a:pPr algn="r">
              <a:defRPr sz="900" b="1">
                <a:solidFill>
                  <a:srgbClr val="6E8FA3"/>
                </a:solidFill>
                <a:latin typeface="Aptos"/>
              </a:defRPr>
            </a:pPr>
            <a:r>
              <a:t>05</a:t>
            </a:r>
          </a:p>
        </p:txBody>
      </p:sp>
      <p:sp>
        <p:nvSpPr>
          <p:cNvPr id="21" name="Rectangle 20"/>
          <p:cNvSpPr/>
          <p:nvPr/>
        </p:nvSpPr>
        <p:spPr>
          <a:xfrm>
            <a:off x="1097280" y="1600200"/>
            <a:ext cx="4800600" cy="530352"/>
          </a:xfrm>
          <a:prstGeom prst="rect">
            <a:avLst/>
          </a:prstGeom>
          <a:solidFill>
            <a:srgbClr val="375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07007" y="1737360"/>
            <a:ext cx="4572000" cy="228600"/>
          </a:xfrm>
          <a:prstGeom prst="rect">
            <a:avLst/>
          </a:prstGeom>
          <a:noFill/>
        </p:spPr>
        <p:txBody>
          <a:bodyPr wrap="square" lIns="36576" tIns="36576" rIns="36576" bIns="36576" anchor="t">
            <a:spAutoFit/>
          </a:bodyPr>
          <a:lstStyle/>
          <a:p>
            <a:pPr algn="ctr">
              <a:defRPr sz="1500" b="1">
                <a:solidFill>
                  <a:srgbClr val="FFFFFF"/>
                </a:solidFill>
                <a:latin typeface="Aptos"/>
              </a:defRPr>
            </a:pPr>
            <a:r>
              <a:t>EXISTING APPROACH</a:t>
            </a:r>
          </a:p>
        </p:txBody>
      </p:sp>
      <p:sp>
        <p:nvSpPr>
          <p:cNvPr id="23" name="Rectangle 22"/>
          <p:cNvSpPr/>
          <p:nvPr/>
        </p:nvSpPr>
        <p:spPr>
          <a:xfrm>
            <a:off x="6080760" y="1600200"/>
            <a:ext cx="4800600" cy="530352"/>
          </a:xfrm>
          <a:prstGeom prst="rect">
            <a:avLst/>
          </a:prstGeom>
          <a:solidFill>
            <a:srgbClr val="375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90488" y="1737360"/>
            <a:ext cx="4572000" cy="228600"/>
          </a:xfrm>
          <a:prstGeom prst="rect">
            <a:avLst/>
          </a:prstGeom>
          <a:noFill/>
        </p:spPr>
        <p:txBody>
          <a:bodyPr wrap="square" lIns="36576" tIns="36576" rIns="36576" bIns="36576" anchor="t">
            <a:spAutoFit/>
          </a:bodyPr>
          <a:lstStyle/>
          <a:p>
            <a:pPr algn="ctr">
              <a:defRPr sz="1500" b="1">
                <a:solidFill>
                  <a:srgbClr val="FFFFFF"/>
                </a:solidFill>
                <a:latin typeface="Aptos"/>
              </a:defRPr>
            </a:pPr>
            <a:r>
              <a:t>OUR PROJECT</a:t>
            </a:r>
          </a:p>
        </p:txBody>
      </p:sp>
      <p:sp>
        <p:nvSpPr>
          <p:cNvPr id="25" name="Rectangle 24"/>
          <p:cNvSpPr/>
          <p:nvPr/>
        </p:nvSpPr>
        <p:spPr>
          <a:xfrm>
            <a:off x="1097280" y="2130552"/>
            <a:ext cx="4800600" cy="786384"/>
          </a:xfrm>
          <a:prstGeom prst="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61872" y="2276856"/>
            <a:ext cx="4480560" cy="502920"/>
          </a:xfrm>
          <a:prstGeom prst="rect">
            <a:avLst/>
          </a:prstGeom>
          <a:noFill/>
        </p:spPr>
        <p:txBody>
          <a:bodyPr wrap="square" lIns="36576" tIns="36576" rIns="36576" bIns="36576" anchor="ctr">
            <a:spAutoFit/>
          </a:bodyPr>
          <a:lstStyle/>
          <a:p>
            <a:pPr>
              <a:defRPr sz="1400" b="0">
                <a:solidFill>
                  <a:srgbClr val="4A5B68"/>
                </a:solidFill>
                <a:latin typeface="Aptos"/>
              </a:defRPr>
            </a:pPr>
            <a:r>
              <a:t>System data can be hard to inspect quickly.</a:t>
            </a:r>
          </a:p>
        </p:txBody>
      </p:sp>
      <p:sp>
        <p:nvSpPr>
          <p:cNvPr id="27" name="Rectangle 26"/>
          <p:cNvSpPr/>
          <p:nvPr/>
        </p:nvSpPr>
        <p:spPr>
          <a:xfrm>
            <a:off x="6080760" y="2130552"/>
            <a:ext cx="4800600" cy="786384"/>
          </a:xfrm>
          <a:prstGeom prst="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5352" y="2276856"/>
            <a:ext cx="4480560" cy="502920"/>
          </a:xfrm>
          <a:prstGeom prst="rect">
            <a:avLst/>
          </a:prstGeom>
          <a:noFill/>
        </p:spPr>
        <p:txBody>
          <a:bodyPr wrap="square" lIns="36576" tIns="36576" rIns="36576" bIns="36576" anchor="ctr">
            <a:spAutoFit/>
          </a:bodyPr>
          <a:lstStyle/>
          <a:p>
            <a:pPr>
              <a:defRPr sz="1400" b="0">
                <a:solidFill>
                  <a:srgbClr val="4A5B68"/>
                </a:solidFill>
                <a:latin typeface="Aptos"/>
              </a:defRPr>
            </a:pPr>
            <a:r>
              <a:t>Live CPU, RAM, load and uptime dashboard.</a:t>
            </a:r>
          </a:p>
        </p:txBody>
      </p:sp>
      <p:sp>
        <p:nvSpPr>
          <p:cNvPr id="29" name="Rectangle 28"/>
          <p:cNvSpPr/>
          <p:nvPr/>
        </p:nvSpPr>
        <p:spPr>
          <a:xfrm>
            <a:off x="1097280" y="2916936"/>
            <a:ext cx="4800600" cy="786384"/>
          </a:xfrm>
          <a:prstGeom prst="rect">
            <a:avLst/>
          </a:prstGeom>
          <a:solidFill>
            <a:srgbClr val="FFFFFF"/>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61872" y="3063240"/>
            <a:ext cx="4480560" cy="502920"/>
          </a:xfrm>
          <a:prstGeom prst="rect">
            <a:avLst/>
          </a:prstGeom>
          <a:noFill/>
        </p:spPr>
        <p:txBody>
          <a:bodyPr wrap="square" lIns="36576" tIns="36576" rIns="36576" bIns="36576" anchor="ctr">
            <a:spAutoFit/>
          </a:bodyPr>
          <a:lstStyle/>
          <a:p>
            <a:pPr>
              <a:defRPr sz="1400" b="0">
                <a:solidFill>
                  <a:srgbClr val="4A5B68"/>
                </a:solidFill>
                <a:latin typeface="Aptos"/>
              </a:defRPr>
            </a:pPr>
            <a:r>
              <a:t>Process details may require terminal commands.</a:t>
            </a:r>
          </a:p>
        </p:txBody>
      </p:sp>
      <p:sp>
        <p:nvSpPr>
          <p:cNvPr id="31" name="Rectangle 30"/>
          <p:cNvSpPr/>
          <p:nvPr/>
        </p:nvSpPr>
        <p:spPr>
          <a:xfrm>
            <a:off x="6080760" y="2916936"/>
            <a:ext cx="4800600" cy="786384"/>
          </a:xfrm>
          <a:prstGeom prst="rect">
            <a:avLst/>
          </a:prstGeom>
          <a:solidFill>
            <a:srgbClr val="FFFFFF"/>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45352" y="3063240"/>
            <a:ext cx="4480560" cy="502920"/>
          </a:xfrm>
          <a:prstGeom prst="rect">
            <a:avLst/>
          </a:prstGeom>
          <a:noFill/>
        </p:spPr>
        <p:txBody>
          <a:bodyPr wrap="square" lIns="36576" tIns="36576" rIns="36576" bIns="36576" anchor="ctr">
            <a:spAutoFit/>
          </a:bodyPr>
          <a:lstStyle/>
          <a:p>
            <a:pPr>
              <a:defRPr sz="1400" b="0">
                <a:solidFill>
                  <a:srgbClr val="4A5B68"/>
                </a:solidFill>
                <a:latin typeface="Aptos"/>
              </a:defRPr>
            </a:pPr>
            <a:r>
              <a:t>Process list with PID, state, CPU and memory.</a:t>
            </a:r>
          </a:p>
        </p:txBody>
      </p:sp>
      <p:sp>
        <p:nvSpPr>
          <p:cNvPr id="33" name="Rectangle 32"/>
          <p:cNvSpPr/>
          <p:nvPr/>
        </p:nvSpPr>
        <p:spPr>
          <a:xfrm>
            <a:off x="1097280" y="3703320"/>
            <a:ext cx="4800600" cy="786384"/>
          </a:xfrm>
          <a:prstGeom prst="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61872" y="3849624"/>
            <a:ext cx="4480560" cy="502920"/>
          </a:xfrm>
          <a:prstGeom prst="rect">
            <a:avLst/>
          </a:prstGeom>
          <a:noFill/>
        </p:spPr>
        <p:txBody>
          <a:bodyPr wrap="square" lIns="36576" tIns="36576" rIns="36576" bIns="36576" anchor="ctr">
            <a:spAutoFit/>
          </a:bodyPr>
          <a:lstStyle/>
          <a:p>
            <a:pPr>
              <a:defRPr sz="1400" b="0">
                <a:solidFill>
                  <a:srgbClr val="4A5B68"/>
                </a:solidFill>
                <a:latin typeface="Aptos"/>
              </a:defRPr>
            </a:pPr>
            <a:r>
              <a:t>Resource requests are difficult to visualize.</a:t>
            </a:r>
          </a:p>
        </p:txBody>
      </p:sp>
      <p:sp>
        <p:nvSpPr>
          <p:cNvPr id="35" name="Rectangle 34"/>
          <p:cNvSpPr/>
          <p:nvPr/>
        </p:nvSpPr>
        <p:spPr>
          <a:xfrm>
            <a:off x="6080760" y="3703320"/>
            <a:ext cx="4800600" cy="786384"/>
          </a:xfrm>
          <a:prstGeom prst="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45352" y="3849624"/>
            <a:ext cx="4480560" cy="502920"/>
          </a:xfrm>
          <a:prstGeom prst="rect">
            <a:avLst/>
          </a:prstGeom>
          <a:noFill/>
        </p:spPr>
        <p:txBody>
          <a:bodyPr wrap="square" lIns="36576" tIns="36576" rIns="36576" bIns="36576" anchor="ctr">
            <a:spAutoFit/>
          </a:bodyPr>
          <a:lstStyle/>
          <a:p>
            <a:pPr>
              <a:defRPr sz="1400" b="0">
                <a:solidFill>
                  <a:srgbClr val="4A5B68"/>
                </a:solidFill>
                <a:latin typeface="Aptos"/>
              </a:defRPr>
            </a:pPr>
            <a:r>
              <a:t>Interactive worker management and requests.</a:t>
            </a:r>
          </a:p>
        </p:txBody>
      </p:sp>
      <p:sp>
        <p:nvSpPr>
          <p:cNvPr id="37" name="Rectangle 36"/>
          <p:cNvSpPr/>
          <p:nvPr/>
        </p:nvSpPr>
        <p:spPr>
          <a:xfrm>
            <a:off x="1097280" y="4489704"/>
            <a:ext cx="4800600" cy="786384"/>
          </a:xfrm>
          <a:prstGeom prst="rect">
            <a:avLst/>
          </a:prstGeom>
          <a:solidFill>
            <a:srgbClr val="FFFFFF"/>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61872" y="4636008"/>
            <a:ext cx="4480560" cy="502920"/>
          </a:xfrm>
          <a:prstGeom prst="rect">
            <a:avLst/>
          </a:prstGeom>
          <a:noFill/>
        </p:spPr>
        <p:txBody>
          <a:bodyPr wrap="square" lIns="36576" tIns="36576" rIns="36576" bIns="36576" anchor="ctr">
            <a:spAutoFit/>
          </a:bodyPr>
          <a:lstStyle/>
          <a:p>
            <a:pPr>
              <a:defRPr sz="1400" b="0">
                <a:solidFill>
                  <a:srgbClr val="4A5B68"/>
                </a:solidFill>
                <a:latin typeface="Aptos"/>
              </a:defRPr>
            </a:pPr>
            <a:r>
              <a:t>No single view of live usage and safety checks.</a:t>
            </a:r>
          </a:p>
        </p:txBody>
      </p:sp>
      <p:sp>
        <p:nvSpPr>
          <p:cNvPr id="39" name="Rectangle 38"/>
          <p:cNvSpPr/>
          <p:nvPr/>
        </p:nvSpPr>
        <p:spPr>
          <a:xfrm>
            <a:off x="6080760" y="4489704"/>
            <a:ext cx="4800600" cy="786384"/>
          </a:xfrm>
          <a:prstGeom prst="rect">
            <a:avLst/>
          </a:prstGeom>
          <a:solidFill>
            <a:srgbClr val="FFFFFF"/>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45352" y="4636008"/>
            <a:ext cx="4480560" cy="502920"/>
          </a:xfrm>
          <a:prstGeom prst="rect">
            <a:avLst/>
          </a:prstGeom>
          <a:noFill/>
        </p:spPr>
        <p:txBody>
          <a:bodyPr wrap="square" lIns="36576" tIns="36576" rIns="36576" bIns="36576" anchor="ctr">
            <a:spAutoFit/>
          </a:bodyPr>
          <a:lstStyle/>
          <a:p>
            <a:pPr>
              <a:defRPr sz="1400" b="0">
                <a:solidFill>
                  <a:srgbClr val="4A5B68"/>
                </a:solidFill>
                <a:latin typeface="Aptos"/>
              </a:defRPr>
            </a:pPr>
            <a:r>
              <a:t>Banker’s safety check with a safe sequence.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Arc 1"/>
          <p:cNvSpPr/>
          <p:nvPr/>
        </p:nvSpPr>
        <p:spPr>
          <a:xfrm>
            <a:off x="-384048" y="-502920"/>
            <a:ext cx="1920240" cy="160020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rc 2"/>
          <p:cNvSpPr/>
          <p:nvPr/>
        </p:nvSpPr>
        <p:spPr>
          <a:xfrm>
            <a:off x="10835640" y="5715000"/>
            <a:ext cx="1828800" cy="155448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rc 3"/>
          <p:cNvSpPr/>
          <p:nvPr/>
        </p:nvSpPr>
        <p:spPr>
          <a:xfrm>
            <a:off x="-301751" y="-438912"/>
            <a:ext cx="1847088" cy="1545336"/>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rc 4"/>
          <p:cNvSpPr/>
          <p:nvPr/>
        </p:nvSpPr>
        <p:spPr>
          <a:xfrm>
            <a:off x="10899648" y="5769864"/>
            <a:ext cx="1773936" cy="150876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rc 5"/>
          <p:cNvSpPr/>
          <p:nvPr/>
        </p:nvSpPr>
        <p:spPr>
          <a:xfrm>
            <a:off x="-219456" y="-374904"/>
            <a:ext cx="1773936" cy="1490472"/>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rc 6"/>
          <p:cNvSpPr/>
          <p:nvPr/>
        </p:nvSpPr>
        <p:spPr>
          <a:xfrm>
            <a:off x="10963656" y="5824728"/>
            <a:ext cx="1719072" cy="1463039"/>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rc 7"/>
          <p:cNvSpPr/>
          <p:nvPr/>
        </p:nvSpPr>
        <p:spPr>
          <a:xfrm>
            <a:off x="-137159" y="-310896"/>
            <a:ext cx="1700784" cy="1435608"/>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rc 8"/>
          <p:cNvSpPr/>
          <p:nvPr/>
        </p:nvSpPr>
        <p:spPr>
          <a:xfrm>
            <a:off x="11027664" y="5879592"/>
            <a:ext cx="1664208" cy="1417319"/>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rc 9"/>
          <p:cNvSpPr/>
          <p:nvPr/>
        </p:nvSpPr>
        <p:spPr>
          <a:xfrm>
            <a:off x="-54864" y="-246888"/>
            <a:ext cx="1627632" cy="1380744"/>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rc 10"/>
          <p:cNvSpPr/>
          <p:nvPr/>
        </p:nvSpPr>
        <p:spPr>
          <a:xfrm>
            <a:off x="11091672" y="5934456"/>
            <a:ext cx="1609344" cy="137160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rc 11"/>
          <p:cNvSpPr/>
          <p:nvPr/>
        </p:nvSpPr>
        <p:spPr>
          <a:xfrm>
            <a:off x="27431" y="-182880"/>
            <a:ext cx="1554480" cy="132588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rc 12"/>
          <p:cNvSpPr/>
          <p:nvPr/>
        </p:nvSpPr>
        <p:spPr>
          <a:xfrm>
            <a:off x="11155680" y="5989320"/>
            <a:ext cx="1554480" cy="132588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rc 13"/>
          <p:cNvSpPr/>
          <p:nvPr/>
        </p:nvSpPr>
        <p:spPr>
          <a:xfrm>
            <a:off x="109728" y="-118872"/>
            <a:ext cx="1481328" cy="1271016"/>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rc 14"/>
          <p:cNvSpPr/>
          <p:nvPr/>
        </p:nvSpPr>
        <p:spPr>
          <a:xfrm>
            <a:off x="11219688" y="6044184"/>
            <a:ext cx="1499616" cy="128016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iamond 15"/>
          <p:cNvSpPr/>
          <p:nvPr/>
        </p:nvSpPr>
        <p:spPr>
          <a:xfrm>
            <a:off x="11292840" y="137160"/>
            <a:ext cx="438912" cy="822960"/>
          </a:xfrm>
          <a:prstGeom prst="diamond">
            <a:avLst/>
          </a:prstGeom>
          <a:solidFill>
            <a:srgbClr val="E2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amond 16"/>
          <p:cNvSpPr/>
          <p:nvPr/>
        </p:nvSpPr>
        <p:spPr>
          <a:xfrm>
            <a:off x="0" y="5303520"/>
            <a:ext cx="347472" cy="868680"/>
          </a:xfrm>
          <a:prstGeom prst="diamond">
            <a:avLst/>
          </a:prstGeom>
          <a:solidFill>
            <a:srgbClr val="E2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475488"/>
            <a:ext cx="10058400" cy="530352"/>
          </a:xfrm>
          <a:prstGeom prst="rect">
            <a:avLst/>
          </a:prstGeom>
          <a:noFill/>
        </p:spPr>
        <p:txBody>
          <a:bodyPr wrap="square" lIns="36576" tIns="36576" rIns="36576" bIns="36576" anchor="t">
            <a:spAutoFit/>
          </a:bodyPr>
          <a:lstStyle/>
          <a:p>
            <a:pPr algn="ctr">
              <a:defRPr sz="2800" b="1">
                <a:solidFill>
                  <a:srgbClr val="375B75"/>
                </a:solidFill>
                <a:latin typeface="Aptos Display"/>
              </a:defRPr>
            </a:pPr>
            <a:r>
              <a:t>WORKFLOW / STRUCTURE</a:t>
            </a:r>
          </a:p>
        </p:txBody>
      </p:sp>
      <p:sp>
        <p:nvSpPr>
          <p:cNvPr id="19" name="Rectangle 18"/>
          <p:cNvSpPr/>
          <p:nvPr/>
        </p:nvSpPr>
        <p:spPr>
          <a:xfrm>
            <a:off x="2971800" y="1115568"/>
            <a:ext cx="6263640" cy="22860"/>
          </a:xfrm>
          <a:prstGeom prst="rect">
            <a:avLst/>
          </a:prstGeom>
          <a:solidFill>
            <a:srgbClr val="6E8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881360" y="512064"/>
            <a:ext cx="457200" cy="228600"/>
          </a:xfrm>
          <a:prstGeom prst="rect">
            <a:avLst/>
          </a:prstGeom>
          <a:noFill/>
        </p:spPr>
        <p:txBody>
          <a:bodyPr wrap="square" lIns="36576" tIns="36576" rIns="36576" bIns="36576" anchor="t">
            <a:spAutoFit/>
          </a:bodyPr>
          <a:lstStyle/>
          <a:p>
            <a:pPr algn="r">
              <a:defRPr sz="900" b="1">
                <a:solidFill>
                  <a:srgbClr val="6E8FA3"/>
                </a:solidFill>
                <a:latin typeface="Aptos"/>
              </a:defRPr>
            </a:pPr>
            <a:r>
              <a:t>06</a:t>
            </a:r>
          </a:p>
        </p:txBody>
      </p:sp>
      <p:sp>
        <p:nvSpPr>
          <p:cNvPr id="21" name="TextBox 20"/>
          <p:cNvSpPr txBox="1"/>
          <p:nvPr/>
        </p:nvSpPr>
        <p:spPr>
          <a:xfrm>
            <a:off x="914400" y="1417320"/>
            <a:ext cx="5852160" cy="1549400"/>
          </a:xfrm>
          <a:prstGeom prst="rect">
            <a:avLst/>
          </a:prstGeom>
          <a:noFill/>
        </p:spPr>
        <p:txBody>
          <a:bodyPr wrap="square" lIns="36576" tIns="36576" rIns="36576" bIns="36576" anchor="t">
            <a:spAutoFit/>
          </a:bodyPr>
          <a:lstStyle/>
          <a:p>
            <a:pPr algn="just">
              <a:defRPr sz="1800" b="0">
                <a:solidFill>
                  <a:srgbClr val="4A5B68"/>
                </a:solidFill>
                <a:latin typeface="Aptos"/>
              </a:defRPr>
            </a:pPr>
            <a:r>
              <a:rPr sz="2400">
                <a:latin typeface="Times New Roman" panose="02020603050405020304" charset="0"/>
                <a:cs typeface="Times New Roman" panose="02020603050405020304" charset="0"/>
              </a:rPr>
              <a:t>The dashboard collects live Linux information. When a worker requests resources, the allocator checks the request and tests whether the system remains safe.</a:t>
            </a:r>
            <a:endParaRPr sz="2400">
              <a:latin typeface="Times New Roman" panose="02020603050405020304" charset="0"/>
              <a:cs typeface="Times New Roman" panose="02020603050405020304" charset="0"/>
            </a:endParaRPr>
          </a:p>
        </p:txBody>
      </p:sp>
      <p:sp>
        <p:nvSpPr>
          <p:cNvPr id="22" name="Rounded Rectangle 21"/>
          <p:cNvSpPr/>
          <p:nvPr/>
        </p:nvSpPr>
        <p:spPr>
          <a:xfrm>
            <a:off x="7315200" y="1417320"/>
            <a:ext cx="3291840" cy="530352"/>
          </a:xfrm>
          <a:prstGeom prst="round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79792" y="1527048"/>
            <a:ext cx="320040" cy="228600"/>
          </a:xfrm>
          <a:prstGeom prst="rect">
            <a:avLst/>
          </a:prstGeom>
          <a:noFill/>
        </p:spPr>
        <p:txBody>
          <a:bodyPr wrap="square" lIns="36576" tIns="36576" rIns="36576" bIns="36576" anchor="t">
            <a:spAutoFit/>
          </a:bodyPr>
          <a:lstStyle/>
          <a:p>
            <a:pPr algn="ctr">
              <a:defRPr sz="1400" b="1">
                <a:solidFill>
                  <a:srgbClr val="375B75"/>
                </a:solidFill>
                <a:latin typeface="Aptos"/>
              </a:defRPr>
            </a:pPr>
            <a:r>
              <a:t>1</a:t>
            </a:r>
          </a:p>
        </p:txBody>
      </p:sp>
      <p:sp>
        <p:nvSpPr>
          <p:cNvPr id="24" name="TextBox 23"/>
          <p:cNvSpPr txBox="1"/>
          <p:nvPr/>
        </p:nvSpPr>
        <p:spPr>
          <a:xfrm>
            <a:off x="7909560" y="1536192"/>
            <a:ext cx="2468880" cy="228600"/>
          </a:xfrm>
          <a:prstGeom prst="rect">
            <a:avLst/>
          </a:prstGeom>
          <a:noFill/>
        </p:spPr>
        <p:txBody>
          <a:bodyPr wrap="square" lIns="36576" tIns="36576" rIns="36576" bIns="36576" anchor="t">
            <a:spAutoFit/>
          </a:bodyPr>
          <a:lstStyle/>
          <a:p>
            <a:pPr>
              <a:defRPr sz="1300" b="1">
                <a:solidFill>
                  <a:srgbClr val="4A5B68"/>
                </a:solidFill>
                <a:latin typeface="Aptos"/>
              </a:defRPr>
            </a:pPr>
            <a:r>
              <a:t>Read live data</a:t>
            </a:r>
          </a:p>
        </p:txBody>
      </p:sp>
      <p:sp>
        <p:nvSpPr>
          <p:cNvPr id="25" name="TextBox 24"/>
          <p:cNvSpPr txBox="1"/>
          <p:nvPr/>
        </p:nvSpPr>
        <p:spPr>
          <a:xfrm>
            <a:off x="8549640" y="1947672"/>
            <a:ext cx="640080" cy="164592"/>
          </a:xfrm>
          <a:prstGeom prst="rect">
            <a:avLst/>
          </a:prstGeom>
          <a:noFill/>
        </p:spPr>
        <p:txBody>
          <a:bodyPr wrap="square" lIns="36576" tIns="36576" rIns="36576" bIns="36576" anchor="t">
            <a:spAutoFit/>
          </a:bodyPr>
          <a:lstStyle/>
          <a:p>
            <a:pPr algn="ctr">
              <a:defRPr sz="1200" b="1">
                <a:solidFill>
                  <a:srgbClr val="6E8FA3"/>
                </a:solidFill>
                <a:latin typeface="Aptos"/>
              </a:defRPr>
            </a:pPr>
            <a:r>
              <a:t>↓</a:t>
            </a:r>
          </a:p>
        </p:txBody>
      </p:sp>
      <p:sp>
        <p:nvSpPr>
          <p:cNvPr id="26" name="Rounded Rectangle 25"/>
          <p:cNvSpPr/>
          <p:nvPr/>
        </p:nvSpPr>
        <p:spPr>
          <a:xfrm>
            <a:off x="7315200" y="2130552"/>
            <a:ext cx="3291840" cy="530352"/>
          </a:xfrm>
          <a:prstGeom prst="round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79792" y="2240280"/>
            <a:ext cx="320040" cy="228600"/>
          </a:xfrm>
          <a:prstGeom prst="rect">
            <a:avLst/>
          </a:prstGeom>
          <a:noFill/>
        </p:spPr>
        <p:txBody>
          <a:bodyPr wrap="square" lIns="36576" tIns="36576" rIns="36576" bIns="36576" anchor="t">
            <a:spAutoFit/>
          </a:bodyPr>
          <a:lstStyle/>
          <a:p>
            <a:pPr algn="ctr">
              <a:defRPr sz="1400" b="1">
                <a:solidFill>
                  <a:srgbClr val="375B75"/>
                </a:solidFill>
                <a:latin typeface="Aptos"/>
              </a:defRPr>
            </a:pPr>
            <a:r>
              <a:t>2</a:t>
            </a:r>
          </a:p>
        </p:txBody>
      </p:sp>
      <p:sp>
        <p:nvSpPr>
          <p:cNvPr id="28" name="TextBox 27"/>
          <p:cNvSpPr txBox="1"/>
          <p:nvPr/>
        </p:nvSpPr>
        <p:spPr>
          <a:xfrm>
            <a:off x="7909560" y="2249424"/>
            <a:ext cx="2468880" cy="228600"/>
          </a:xfrm>
          <a:prstGeom prst="rect">
            <a:avLst/>
          </a:prstGeom>
          <a:noFill/>
        </p:spPr>
        <p:txBody>
          <a:bodyPr wrap="square" lIns="36576" tIns="36576" rIns="36576" bIns="36576" anchor="t">
            <a:spAutoFit/>
          </a:bodyPr>
          <a:lstStyle/>
          <a:p>
            <a:pPr>
              <a:defRPr sz="1300" b="1">
                <a:solidFill>
                  <a:srgbClr val="4A5B68"/>
                </a:solidFill>
                <a:latin typeface="Aptos"/>
              </a:defRPr>
            </a:pPr>
            <a:r>
              <a:t>Choose / create worker</a:t>
            </a:r>
          </a:p>
        </p:txBody>
      </p:sp>
      <p:sp>
        <p:nvSpPr>
          <p:cNvPr id="29" name="TextBox 28"/>
          <p:cNvSpPr txBox="1"/>
          <p:nvPr/>
        </p:nvSpPr>
        <p:spPr>
          <a:xfrm>
            <a:off x="8549640" y="2660904"/>
            <a:ext cx="640080" cy="164592"/>
          </a:xfrm>
          <a:prstGeom prst="rect">
            <a:avLst/>
          </a:prstGeom>
          <a:noFill/>
        </p:spPr>
        <p:txBody>
          <a:bodyPr wrap="square" lIns="36576" tIns="36576" rIns="36576" bIns="36576" anchor="t">
            <a:spAutoFit/>
          </a:bodyPr>
          <a:lstStyle/>
          <a:p>
            <a:pPr algn="ctr">
              <a:defRPr sz="1200" b="1">
                <a:solidFill>
                  <a:srgbClr val="6E8FA3"/>
                </a:solidFill>
                <a:latin typeface="Aptos"/>
              </a:defRPr>
            </a:pPr>
            <a:r>
              <a:t>↓</a:t>
            </a:r>
          </a:p>
        </p:txBody>
      </p:sp>
      <p:sp>
        <p:nvSpPr>
          <p:cNvPr id="30" name="Rounded Rectangle 29"/>
          <p:cNvSpPr/>
          <p:nvPr/>
        </p:nvSpPr>
        <p:spPr>
          <a:xfrm>
            <a:off x="7315200" y="2843784"/>
            <a:ext cx="3291840" cy="530352"/>
          </a:xfrm>
          <a:prstGeom prst="round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79792" y="2953512"/>
            <a:ext cx="320040" cy="228600"/>
          </a:xfrm>
          <a:prstGeom prst="rect">
            <a:avLst/>
          </a:prstGeom>
          <a:noFill/>
        </p:spPr>
        <p:txBody>
          <a:bodyPr wrap="square" lIns="36576" tIns="36576" rIns="36576" bIns="36576" anchor="t">
            <a:spAutoFit/>
          </a:bodyPr>
          <a:lstStyle/>
          <a:p>
            <a:pPr algn="ctr">
              <a:defRPr sz="1400" b="1">
                <a:solidFill>
                  <a:srgbClr val="375B75"/>
                </a:solidFill>
                <a:latin typeface="Aptos"/>
              </a:defRPr>
            </a:pPr>
            <a:r>
              <a:t>3</a:t>
            </a:r>
          </a:p>
        </p:txBody>
      </p:sp>
      <p:sp>
        <p:nvSpPr>
          <p:cNvPr id="32" name="TextBox 31"/>
          <p:cNvSpPr txBox="1"/>
          <p:nvPr/>
        </p:nvSpPr>
        <p:spPr>
          <a:xfrm>
            <a:off x="7909560" y="2962656"/>
            <a:ext cx="2468880" cy="228600"/>
          </a:xfrm>
          <a:prstGeom prst="rect">
            <a:avLst/>
          </a:prstGeom>
          <a:noFill/>
        </p:spPr>
        <p:txBody>
          <a:bodyPr wrap="square" lIns="36576" tIns="36576" rIns="36576" bIns="36576" anchor="t">
            <a:spAutoFit/>
          </a:bodyPr>
          <a:lstStyle/>
          <a:p>
            <a:pPr>
              <a:defRPr sz="1300" b="1">
                <a:solidFill>
                  <a:srgbClr val="4A5B68"/>
                </a:solidFill>
                <a:latin typeface="Aptos"/>
              </a:defRPr>
            </a:pPr>
            <a:r>
              <a:t>Submit CPU or RAM request</a:t>
            </a:r>
          </a:p>
        </p:txBody>
      </p:sp>
      <p:sp>
        <p:nvSpPr>
          <p:cNvPr id="33" name="TextBox 32"/>
          <p:cNvSpPr txBox="1"/>
          <p:nvPr/>
        </p:nvSpPr>
        <p:spPr>
          <a:xfrm>
            <a:off x="8549640" y="3374136"/>
            <a:ext cx="640080" cy="164592"/>
          </a:xfrm>
          <a:prstGeom prst="rect">
            <a:avLst/>
          </a:prstGeom>
          <a:noFill/>
        </p:spPr>
        <p:txBody>
          <a:bodyPr wrap="square" lIns="36576" tIns="36576" rIns="36576" bIns="36576" anchor="t">
            <a:spAutoFit/>
          </a:bodyPr>
          <a:lstStyle/>
          <a:p>
            <a:pPr algn="ctr">
              <a:defRPr sz="1200" b="1">
                <a:solidFill>
                  <a:srgbClr val="6E8FA3"/>
                </a:solidFill>
                <a:latin typeface="Aptos"/>
              </a:defRPr>
            </a:pPr>
            <a:r>
              <a:t>↓</a:t>
            </a:r>
          </a:p>
        </p:txBody>
      </p:sp>
      <p:sp>
        <p:nvSpPr>
          <p:cNvPr id="34" name="Rounded Rectangle 33"/>
          <p:cNvSpPr/>
          <p:nvPr/>
        </p:nvSpPr>
        <p:spPr>
          <a:xfrm>
            <a:off x="7315200" y="3557015"/>
            <a:ext cx="3291840" cy="530352"/>
          </a:xfrm>
          <a:prstGeom prst="round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79792" y="3666744"/>
            <a:ext cx="320040" cy="228600"/>
          </a:xfrm>
          <a:prstGeom prst="rect">
            <a:avLst/>
          </a:prstGeom>
          <a:noFill/>
        </p:spPr>
        <p:txBody>
          <a:bodyPr wrap="square" lIns="36576" tIns="36576" rIns="36576" bIns="36576" anchor="t">
            <a:spAutoFit/>
          </a:bodyPr>
          <a:lstStyle/>
          <a:p>
            <a:pPr algn="ctr">
              <a:defRPr sz="1400" b="1">
                <a:solidFill>
                  <a:srgbClr val="375B75"/>
                </a:solidFill>
                <a:latin typeface="Aptos"/>
              </a:defRPr>
            </a:pPr>
            <a:r>
              <a:t>4</a:t>
            </a:r>
          </a:p>
        </p:txBody>
      </p:sp>
      <p:sp>
        <p:nvSpPr>
          <p:cNvPr id="36" name="TextBox 35"/>
          <p:cNvSpPr txBox="1"/>
          <p:nvPr/>
        </p:nvSpPr>
        <p:spPr>
          <a:xfrm>
            <a:off x="7909560" y="3675887"/>
            <a:ext cx="2468880" cy="228600"/>
          </a:xfrm>
          <a:prstGeom prst="rect">
            <a:avLst/>
          </a:prstGeom>
          <a:noFill/>
        </p:spPr>
        <p:txBody>
          <a:bodyPr wrap="square" lIns="36576" tIns="36576" rIns="36576" bIns="36576" anchor="t">
            <a:spAutoFit/>
          </a:bodyPr>
          <a:lstStyle/>
          <a:p>
            <a:pPr>
              <a:defRPr sz="1300" b="1">
                <a:solidFill>
                  <a:srgbClr val="4A5B68"/>
                </a:solidFill>
                <a:latin typeface="Aptos"/>
              </a:defRPr>
            </a:pPr>
            <a:r>
              <a:t>Check Need + Available</a:t>
            </a:r>
          </a:p>
        </p:txBody>
      </p:sp>
      <p:sp>
        <p:nvSpPr>
          <p:cNvPr id="37" name="TextBox 36"/>
          <p:cNvSpPr txBox="1"/>
          <p:nvPr/>
        </p:nvSpPr>
        <p:spPr>
          <a:xfrm>
            <a:off x="8549640" y="4087368"/>
            <a:ext cx="640080" cy="164592"/>
          </a:xfrm>
          <a:prstGeom prst="rect">
            <a:avLst/>
          </a:prstGeom>
          <a:noFill/>
        </p:spPr>
        <p:txBody>
          <a:bodyPr wrap="square" lIns="36576" tIns="36576" rIns="36576" bIns="36576" anchor="t">
            <a:spAutoFit/>
          </a:bodyPr>
          <a:lstStyle/>
          <a:p>
            <a:pPr algn="ctr">
              <a:defRPr sz="1200" b="1">
                <a:solidFill>
                  <a:srgbClr val="6E8FA3"/>
                </a:solidFill>
                <a:latin typeface="Aptos"/>
              </a:defRPr>
            </a:pPr>
            <a:r>
              <a:t>↓</a:t>
            </a:r>
          </a:p>
        </p:txBody>
      </p:sp>
      <p:sp>
        <p:nvSpPr>
          <p:cNvPr id="38" name="Rounded Rectangle 37"/>
          <p:cNvSpPr/>
          <p:nvPr/>
        </p:nvSpPr>
        <p:spPr>
          <a:xfrm>
            <a:off x="7315200" y="4270248"/>
            <a:ext cx="3291840" cy="530352"/>
          </a:xfrm>
          <a:prstGeom prst="round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79792" y="4379976"/>
            <a:ext cx="320040" cy="228600"/>
          </a:xfrm>
          <a:prstGeom prst="rect">
            <a:avLst/>
          </a:prstGeom>
          <a:noFill/>
        </p:spPr>
        <p:txBody>
          <a:bodyPr wrap="square" lIns="36576" tIns="36576" rIns="36576" bIns="36576" anchor="t">
            <a:spAutoFit/>
          </a:bodyPr>
          <a:lstStyle/>
          <a:p>
            <a:pPr algn="ctr">
              <a:defRPr sz="1400" b="1">
                <a:solidFill>
                  <a:srgbClr val="375B75"/>
                </a:solidFill>
                <a:latin typeface="Aptos"/>
              </a:defRPr>
            </a:pPr>
            <a:r>
              <a:t>5</a:t>
            </a:r>
          </a:p>
        </p:txBody>
      </p:sp>
      <p:sp>
        <p:nvSpPr>
          <p:cNvPr id="40" name="TextBox 39"/>
          <p:cNvSpPr txBox="1"/>
          <p:nvPr/>
        </p:nvSpPr>
        <p:spPr>
          <a:xfrm>
            <a:off x="7909560" y="4389120"/>
            <a:ext cx="2468880" cy="228600"/>
          </a:xfrm>
          <a:prstGeom prst="rect">
            <a:avLst/>
          </a:prstGeom>
          <a:noFill/>
        </p:spPr>
        <p:txBody>
          <a:bodyPr wrap="square" lIns="36576" tIns="36576" rIns="36576" bIns="36576" anchor="t">
            <a:spAutoFit/>
          </a:bodyPr>
          <a:lstStyle/>
          <a:p>
            <a:pPr>
              <a:defRPr sz="1300" b="1">
                <a:solidFill>
                  <a:srgbClr val="4A5B68"/>
                </a:solidFill>
                <a:latin typeface="Aptos"/>
              </a:defRPr>
            </a:pPr>
            <a:r>
              <a:t>Run safety algorithm</a:t>
            </a:r>
          </a:p>
        </p:txBody>
      </p:sp>
      <p:sp>
        <p:nvSpPr>
          <p:cNvPr id="41" name="TextBox 40"/>
          <p:cNvSpPr txBox="1"/>
          <p:nvPr/>
        </p:nvSpPr>
        <p:spPr>
          <a:xfrm>
            <a:off x="8549640" y="4800600"/>
            <a:ext cx="640080" cy="164592"/>
          </a:xfrm>
          <a:prstGeom prst="rect">
            <a:avLst/>
          </a:prstGeom>
          <a:noFill/>
        </p:spPr>
        <p:txBody>
          <a:bodyPr wrap="square" lIns="36576" tIns="36576" rIns="36576" bIns="36576" anchor="t">
            <a:spAutoFit/>
          </a:bodyPr>
          <a:lstStyle/>
          <a:p>
            <a:pPr algn="ctr">
              <a:defRPr sz="1200" b="1">
                <a:solidFill>
                  <a:srgbClr val="6E8FA3"/>
                </a:solidFill>
                <a:latin typeface="Aptos"/>
              </a:defRPr>
            </a:pPr>
            <a:r>
              <a:t>↓</a:t>
            </a:r>
          </a:p>
        </p:txBody>
      </p:sp>
      <p:sp>
        <p:nvSpPr>
          <p:cNvPr id="42" name="Rounded Rectangle 41"/>
          <p:cNvSpPr/>
          <p:nvPr/>
        </p:nvSpPr>
        <p:spPr>
          <a:xfrm>
            <a:off x="7315200" y="4983480"/>
            <a:ext cx="3291840" cy="530352"/>
          </a:xfrm>
          <a:prstGeom prst="round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79792" y="5093208"/>
            <a:ext cx="320040" cy="228600"/>
          </a:xfrm>
          <a:prstGeom prst="rect">
            <a:avLst/>
          </a:prstGeom>
          <a:noFill/>
        </p:spPr>
        <p:txBody>
          <a:bodyPr wrap="square" lIns="36576" tIns="36576" rIns="36576" bIns="36576" anchor="t">
            <a:spAutoFit/>
          </a:bodyPr>
          <a:lstStyle/>
          <a:p>
            <a:pPr algn="ctr">
              <a:defRPr sz="1400" b="1">
                <a:solidFill>
                  <a:srgbClr val="375B75"/>
                </a:solidFill>
                <a:latin typeface="Aptos"/>
              </a:defRPr>
            </a:pPr>
            <a:r>
              <a:t>6</a:t>
            </a:r>
          </a:p>
        </p:txBody>
      </p:sp>
      <p:sp>
        <p:nvSpPr>
          <p:cNvPr id="44" name="TextBox 43"/>
          <p:cNvSpPr txBox="1"/>
          <p:nvPr/>
        </p:nvSpPr>
        <p:spPr>
          <a:xfrm>
            <a:off x="7909560" y="5102352"/>
            <a:ext cx="2468880" cy="228600"/>
          </a:xfrm>
          <a:prstGeom prst="rect">
            <a:avLst/>
          </a:prstGeom>
          <a:noFill/>
        </p:spPr>
        <p:txBody>
          <a:bodyPr wrap="square" lIns="36576" tIns="36576" rIns="36576" bIns="36576" anchor="t">
            <a:spAutoFit/>
          </a:bodyPr>
          <a:lstStyle/>
          <a:p>
            <a:pPr>
              <a:defRPr sz="1300" b="1">
                <a:solidFill>
                  <a:srgbClr val="4A5B68"/>
                </a:solidFill>
                <a:latin typeface="Aptos"/>
              </a:defRPr>
            </a:pPr>
            <a:r>
              <a:t>Show decision + safe sequence</a:t>
            </a:r>
          </a:p>
        </p:txBody>
      </p:sp>
      <p:sp>
        <p:nvSpPr>
          <p:cNvPr id="45" name="TextBox 44"/>
          <p:cNvSpPr txBox="1"/>
          <p:nvPr/>
        </p:nvSpPr>
        <p:spPr>
          <a:xfrm>
            <a:off x="1188720" y="3657600"/>
            <a:ext cx="5212080" cy="384048"/>
          </a:xfrm>
          <a:prstGeom prst="rect">
            <a:avLst/>
          </a:prstGeom>
          <a:noFill/>
        </p:spPr>
        <p:txBody>
          <a:bodyPr wrap="square" lIns="36576" tIns="36576" rIns="36576" bIns="36576" anchor="t">
            <a:spAutoFit/>
          </a:bodyPr>
          <a:lstStyle/>
          <a:p>
            <a:pPr algn="ctr">
              <a:defRPr sz="1800" b="1">
                <a:solidFill>
                  <a:srgbClr val="375B75"/>
                </a:solidFill>
                <a:latin typeface="Aptos"/>
              </a:defRPr>
            </a:pPr>
            <a:r>
              <a:t>Need = Maximum − Allocation</a:t>
            </a:r>
          </a:p>
        </p:txBody>
      </p:sp>
      <p:sp>
        <p:nvSpPr>
          <p:cNvPr id="46" name="TextBox 45"/>
          <p:cNvSpPr txBox="1"/>
          <p:nvPr/>
        </p:nvSpPr>
        <p:spPr>
          <a:xfrm>
            <a:off x="1188720" y="4297680"/>
            <a:ext cx="5212080" cy="384048"/>
          </a:xfrm>
          <a:prstGeom prst="rect">
            <a:avLst/>
          </a:prstGeom>
          <a:noFill/>
        </p:spPr>
        <p:txBody>
          <a:bodyPr wrap="square" lIns="36576" tIns="36576" rIns="36576" bIns="36576" anchor="t">
            <a:spAutoFit/>
          </a:bodyPr>
          <a:lstStyle/>
          <a:p>
            <a:pPr algn="ctr">
              <a:defRPr sz="1800" b="1">
                <a:solidFill>
                  <a:srgbClr val="375B75"/>
                </a:solidFill>
                <a:latin typeface="Aptos"/>
              </a:defRPr>
            </a:pPr>
            <a:r>
              <a:t>Available = Resource Pool − Allocated</a:t>
            </a:r>
          </a:p>
        </p:txBody>
      </p:sp>
      <p:sp>
        <p:nvSpPr>
          <p:cNvPr id="47" name="TextBox 46"/>
          <p:cNvSpPr txBox="1"/>
          <p:nvPr/>
        </p:nvSpPr>
        <p:spPr>
          <a:xfrm>
            <a:off x="1005840" y="5257800"/>
            <a:ext cx="5669280" cy="548640"/>
          </a:xfrm>
          <a:prstGeom prst="rect">
            <a:avLst/>
          </a:prstGeom>
          <a:noFill/>
        </p:spPr>
        <p:txBody>
          <a:bodyPr wrap="square" lIns="36576" tIns="36576" rIns="36576" bIns="36576" anchor="t">
            <a:spAutoFit/>
          </a:bodyPr>
          <a:lstStyle/>
          <a:p>
            <a:pPr algn="ctr">
              <a:defRPr sz="1400" b="1">
                <a:solidFill>
                  <a:srgbClr val="6E8FA3"/>
                </a:solidFill>
                <a:latin typeface="Aptos"/>
              </a:defRPr>
            </a:pPr>
            <a:r>
              <a:t>An unsafe state does not necessarily mean deadlock has already happened.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Arc 1"/>
          <p:cNvSpPr/>
          <p:nvPr/>
        </p:nvSpPr>
        <p:spPr>
          <a:xfrm>
            <a:off x="-384048" y="-502920"/>
            <a:ext cx="1920240" cy="160020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rc 2"/>
          <p:cNvSpPr/>
          <p:nvPr/>
        </p:nvSpPr>
        <p:spPr>
          <a:xfrm>
            <a:off x="10835640" y="5715000"/>
            <a:ext cx="1828800" cy="155448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rc 3"/>
          <p:cNvSpPr/>
          <p:nvPr/>
        </p:nvSpPr>
        <p:spPr>
          <a:xfrm>
            <a:off x="-301751" y="-438912"/>
            <a:ext cx="1847088" cy="1545336"/>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rc 4"/>
          <p:cNvSpPr/>
          <p:nvPr/>
        </p:nvSpPr>
        <p:spPr>
          <a:xfrm>
            <a:off x="10899648" y="5769864"/>
            <a:ext cx="1773936" cy="150876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rc 5"/>
          <p:cNvSpPr/>
          <p:nvPr/>
        </p:nvSpPr>
        <p:spPr>
          <a:xfrm>
            <a:off x="-219456" y="-374904"/>
            <a:ext cx="1773936" cy="1490472"/>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rc 6"/>
          <p:cNvSpPr/>
          <p:nvPr/>
        </p:nvSpPr>
        <p:spPr>
          <a:xfrm>
            <a:off x="10963656" y="5824728"/>
            <a:ext cx="1719072" cy="1463039"/>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rc 7"/>
          <p:cNvSpPr/>
          <p:nvPr/>
        </p:nvSpPr>
        <p:spPr>
          <a:xfrm>
            <a:off x="-137159" y="-310896"/>
            <a:ext cx="1700784" cy="1435608"/>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rc 8"/>
          <p:cNvSpPr/>
          <p:nvPr/>
        </p:nvSpPr>
        <p:spPr>
          <a:xfrm>
            <a:off x="11027664" y="5879592"/>
            <a:ext cx="1664208" cy="1417319"/>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rc 9"/>
          <p:cNvSpPr/>
          <p:nvPr/>
        </p:nvSpPr>
        <p:spPr>
          <a:xfrm>
            <a:off x="-54864" y="-246888"/>
            <a:ext cx="1627632" cy="1380744"/>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rc 10"/>
          <p:cNvSpPr/>
          <p:nvPr/>
        </p:nvSpPr>
        <p:spPr>
          <a:xfrm>
            <a:off x="11091672" y="5934456"/>
            <a:ext cx="1609344" cy="137160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rc 11"/>
          <p:cNvSpPr/>
          <p:nvPr/>
        </p:nvSpPr>
        <p:spPr>
          <a:xfrm>
            <a:off x="27431" y="-182880"/>
            <a:ext cx="1554480" cy="132588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rc 12"/>
          <p:cNvSpPr/>
          <p:nvPr/>
        </p:nvSpPr>
        <p:spPr>
          <a:xfrm>
            <a:off x="11155680" y="5989320"/>
            <a:ext cx="1554480" cy="132588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rc 13"/>
          <p:cNvSpPr/>
          <p:nvPr/>
        </p:nvSpPr>
        <p:spPr>
          <a:xfrm>
            <a:off x="109728" y="-118872"/>
            <a:ext cx="1481328" cy="1271016"/>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rc 14"/>
          <p:cNvSpPr/>
          <p:nvPr/>
        </p:nvSpPr>
        <p:spPr>
          <a:xfrm>
            <a:off x="11219688" y="6044184"/>
            <a:ext cx="1499616" cy="128016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iamond 15"/>
          <p:cNvSpPr/>
          <p:nvPr/>
        </p:nvSpPr>
        <p:spPr>
          <a:xfrm>
            <a:off x="11292840" y="137160"/>
            <a:ext cx="438912" cy="822960"/>
          </a:xfrm>
          <a:prstGeom prst="diamond">
            <a:avLst/>
          </a:prstGeom>
          <a:solidFill>
            <a:srgbClr val="E2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amond 16"/>
          <p:cNvSpPr/>
          <p:nvPr/>
        </p:nvSpPr>
        <p:spPr>
          <a:xfrm>
            <a:off x="0" y="5303520"/>
            <a:ext cx="347472" cy="868680"/>
          </a:xfrm>
          <a:prstGeom prst="diamond">
            <a:avLst/>
          </a:prstGeom>
          <a:solidFill>
            <a:srgbClr val="E2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475488"/>
            <a:ext cx="10058400" cy="530352"/>
          </a:xfrm>
          <a:prstGeom prst="rect">
            <a:avLst/>
          </a:prstGeom>
          <a:noFill/>
        </p:spPr>
        <p:txBody>
          <a:bodyPr wrap="square" lIns="36576" tIns="36576" rIns="36576" bIns="36576" anchor="t">
            <a:spAutoFit/>
          </a:bodyPr>
          <a:lstStyle/>
          <a:p>
            <a:pPr algn="ctr">
              <a:defRPr sz="2800" b="1">
                <a:solidFill>
                  <a:srgbClr val="375B75"/>
                </a:solidFill>
                <a:latin typeface="Aptos Display"/>
              </a:defRPr>
            </a:pPr>
            <a:r>
              <a:t>SOFTWARE REQUIREMENTS</a:t>
            </a:r>
          </a:p>
        </p:txBody>
      </p:sp>
      <p:sp>
        <p:nvSpPr>
          <p:cNvPr id="19" name="Rectangle 18"/>
          <p:cNvSpPr/>
          <p:nvPr/>
        </p:nvSpPr>
        <p:spPr>
          <a:xfrm>
            <a:off x="2971800" y="1115568"/>
            <a:ext cx="6263640" cy="22860"/>
          </a:xfrm>
          <a:prstGeom prst="rect">
            <a:avLst/>
          </a:prstGeom>
          <a:solidFill>
            <a:srgbClr val="6E8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881360" y="512064"/>
            <a:ext cx="457200" cy="228600"/>
          </a:xfrm>
          <a:prstGeom prst="rect">
            <a:avLst/>
          </a:prstGeom>
          <a:noFill/>
        </p:spPr>
        <p:txBody>
          <a:bodyPr wrap="square" lIns="36576" tIns="36576" rIns="36576" bIns="36576" anchor="t">
            <a:spAutoFit/>
          </a:bodyPr>
          <a:lstStyle/>
          <a:p>
            <a:pPr algn="r">
              <a:defRPr sz="900" b="1">
                <a:solidFill>
                  <a:srgbClr val="6E8FA3"/>
                </a:solidFill>
                <a:latin typeface="Aptos"/>
              </a:defRPr>
            </a:pPr>
            <a:r>
              <a:t>07</a:t>
            </a:r>
          </a:p>
        </p:txBody>
      </p:sp>
      <p:sp>
        <p:nvSpPr>
          <p:cNvPr id="21" name="Rectangle 20"/>
          <p:cNvSpPr/>
          <p:nvPr/>
        </p:nvSpPr>
        <p:spPr>
          <a:xfrm>
            <a:off x="1828800" y="1645920"/>
            <a:ext cx="2926080" cy="731520"/>
          </a:xfrm>
          <a:prstGeom prst="rect">
            <a:avLst/>
          </a:prstGeom>
          <a:solidFill>
            <a:srgbClr val="E2E8ED"/>
          </a:solidFill>
          <a:ln>
            <a:solidFill>
              <a:srgbClr val="CDD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38528" y="1847088"/>
            <a:ext cx="2706624" cy="292608"/>
          </a:xfrm>
          <a:prstGeom prst="rect">
            <a:avLst/>
          </a:prstGeom>
          <a:noFill/>
        </p:spPr>
        <p:txBody>
          <a:bodyPr wrap="square" lIns="36576" tIns="36576" rIns="36576" bIns="36576" anchor="t">
            <a:spAutoFit/>
          </a:bodyPr>
          <a:lstStyle/>
          <a:p>
            <a:pPr algn="ctr">
              <a:defRPr sz="1600" b="1">
                <a:solidFill>
                  <a:srgbClr val="375B75"/>
                </a:solidFill>
                <a:latin typeface="Aptos"/>
              </a:defRPr>
            </a:pPr>
            <a:r>
              <a:t>Software / Tool</a:t>
            </a:r>
          </a:p>
        </p:txBody>
      </p:sp>
      <p:sp>
        <p:nvSpPr>
          <p:cNvPr id="23" name="Rectangle 22"/>
          <p:cNvSpPr/>
          <p:nvPr/>
        </p:nvSpPr>
        <p:spPr>
          <a:xfrm>
            <a:off x="4754880" y="1645920"/>
            <a:ext cx="5852160" cy="731520"/>
          </a:xfrm>
          <a:prstGeom prst="rect">
            <a:avLst/>
          </a:prstGeom>
          <a:solidFill>
            <a:srgbClr val="E2E8ED"/>
          </a:solidFill>
          <a:ln>
            <a:solidFill>
              <a:srgbClr val="CDD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64608" y="1847088"/>
            <a:ext cx="5632704" cy="292608"/>
          </a:xfrm>
          <a:prstGeom prst="rect">
            <a:avLst/>
          </a:prstGeom>
          <a:noFill/>
        </p:spPr>
        <p:txBody>
          <a:bodyPr wrap="square" lIns="36576" tIns="36576" rIns="36576" bIns="36576" anchor="t">
            <a:spAutoFit/>
          </a:bodyPr>
          <a:lstStyle/>
          <a:p>
            <a:pPr algn="ctr">
              <a:defRPr sz="1600" b="1">
                <a:solidFill>
                  <a:srgbClr val="375B75"/>
                </a:solidFill>
                <a:latin typeface="Aptos"/>
              </a:defRPr>
            </a:pPr>
            <a:r>
              <a:t>Purpose</a:t>
            </a:r>
          </a:p>
        </p:txBody>
      </p:sp>
      <p:sp>
        <p:nvSpPr>
          <p:cNvPr id="25" name="Rectangle 24"/>
          <p:cNvSpPr/>
          <p:nvPr/>
        </p:nvSpPr>
        <p:spPr>
          <a:xfrm>
            <a:off x="1828800" y="2377440"/>
            <a:ext cx="2926080" cy="731520"/>
          </a:xfrm>
          <a:prstGeom prst="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938528" y="2560320"/>
            <a:ext cx="2706624" cy="347472"/>
          </a:xfrm>
          <a:prstGeom prst="rect">
            <a:avLst/>
          </a:prstGeom>
          <a:noFill/>
        </p:spPr>
        <p:txBody>
          <a:bodyPr wrap="square" lIns="36576" tIns="36576" rIns="36576" bIns="36576" anchor="t">
            <a:spAutoFit/>
          </a:bodyPr>
          <a:lstStyle/>
          <a:p>
            <a:pPr algn="ctr">
              <a:defRPr sz="1400" b="1">
                <a:solidFill>
                  <a:srgbClr val="4A5B68"/>
                </a:solidFill>
                <a:latin typeface="Aptos"/>
              </a:defRPr>
            </a:pPr>
            <a:r>
              <a:t>HTML &amp; CSS</a:t>
            </a:r>
          </a:p>
        </p:txBody>
      </p:sp>
      <p:sp>
        <p:nvSpPr>
          <p:cNvPr id="27" name="Rectangle 26"/>
          <p:cNvSpPr/>
          <p:nvPr/>
        </p:nvSpPr>
        <p:spPr>
          <a:xfrm>
            <a:off x="4754880" y="2377440"/>
            <a:ext cx="5852160" cy="731520"/>
          </a:xfrm>
          <a:prstGeom prst="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64608" y="2560320"/>
            <a:ext cx="5632704" cy="347472"/>
          </a:xfrm>
          <a:prstGeom prst="rect">
            <a:avLst/>
          </a:prstGeom>
          <a:noFill/>
        </p:spPr>
        <p:txBody>
          <a:bodyPr wrap="square" lIns="36576" tIns="36576" rIns="36576" bIns="36576" anchor="t">
            <a:spAutoFit/>
          </a:bodyPr>
          <a:lstStyle/>
          <a:p>
            <a:pPr>
              <a:defRPr sz="1400" b="0">
                <a:solidFill>
                  <a:srgbClr val="4A5B68"/>
                </a:solidFill>
                <a:latin typeface="Aptos"/>
              </a:defRPr>
            </a:pPr>
            <a:r>
              <a:t>Design the dashboard interface.</a:t>
            </a:r>
          </a:p>
        </p:txBody>
      </p:sp>
      <p:sp>
        <p:nvSpPr>
          <p:cNvPr id="29" name="Rectangle 28"/>
          <p:cNvSpPr/>
          <p:nvPr/>
        </p:nvSpPr>
        <p:spPr>
          <a:xfrm>
            <a:off x="1828800" y="3108960"/>
            <a:ext cx="2926080" cy="731520"/>
          </a:xfrm>
          <a:prstGeom prst="rect">
            <a:avLst/>
          </a:prstGeom>
          <a:solidFill>
            <a:srgbClr val="FFFFFF"/>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938528" y="3291840"/>
            <a:ext cx="2706624" cy="347472"/>
          </a:xfrm>
          <a:prstGeom prst="rect">
            <a:avLst/>
          </a:prstGeom>
          <a:noFill/>
        </p:spPr>
        <p:txBody>
          <a:bodyPr wrap="square" lIns="36576" tIns="36576" rIns="36576" bIns="36576" anchor="t">
            <a:spAutoFit/>
          </a:bodyPr>
          <a:lstStyle/>
          <a:p>
            <a:pPr algn="ctr">
              <a:defRPr sz="1400" b="1">
                <a:solidFill>
                  <a:srgbClr val="4A5B68"/>
                </a:solidFill>
                <a:latin typeface="Aptos"/>
              </a:defRPr>
            </a:pPr>
            <a:r>
              <a:t>JavaScript</a:t>
            </a:r>
          </a:p>
        </p:txBody>
      </p:sp>
      <p:sp>
        <p:nvSpPr>
          <p:cNvPr id="31" name="Rectangle 30"/>
          <p:cNvSpPr/>
          <p:nvPr/>
        </p:nvSpPr>
        <p:spPr>
          <a:xfrm>
            <a:off x="4754880" y="3108960"/>
            <a:ext cx="5852160" cy="731520"/>
          </a:xfrm>
          <a:prstGeom prst="rect">
            <a:avLst/>
          </a:prstGeom>
          <a:solidFill>
            <a:srgbClr val="FFFFFF"/>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64608" y="3291840"/>
            <a:ext cx="5632704" cy="347472"/>
          </a:xfrm>
          <a:prstGeom prst="rect">
            <a:avLst/>
          </a:prstGeom>
          <a:noFill/>
        </p:spPr>
        <p:txBody>
          <a:bodyPr wrap="square" lIns="36576" tIns="36576" rIns="36576" bIns="36576" anchor="t">
            <a:spAutoFit/>
          </a:bodyPr>
          <a:lstStyle/>
          <a:p>
            <a:pPr>
              <a:defRPr sz="1400" b="0">
                <a:solidFill>
                  <a:srgbClr val="4A5B68"/>
                </a:solidFill>
                <a:latin typeface="Aptos"/>
              </a:defRPr>
            </a:pPr>
            <a:r>
              <a:t>Update dashboard views and handle user actions.</a:t>
            </a:r>
          </a:p>
        </p:txBody>
      </p:sp>
      <p:sp>
        <p:nvSpPr>
          <p:cNvPr id="33" name="Rectangle 32"/>
          <p:cNvSpPr/>
          <p:nvPr/>
        </p:nvSpPr>
        <p:spPr>
          <a:xfrm>
            <a:off x="1828800" y="3840480"/>
            <a:ext cx="2926080" cy="731520"/>
          </a:xfrm>
          <a:prstGeom prst="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938528" y="4023360"/>
            <a:ext cx="2706624" cy="347472"/>
          </a:xfrm>
          <a:prstGeom prst="rect">
            <a:avLst/>
          </a:prstGeom>
          <a:noFill/>
        </p:spPr>
        <p:txBody>
          <a:bodyPr wrap="square" lIns="36576" tIns="36576" rIns="36576" bIns="36576" anchor="t">
            <a:spAutoFit/>
          </a:bodyPr>
          <a:lstStyle/>
          <a:p>
            <a:pPr algn="ctr">
              <a:defRPr sz="1400" b="1">
                <a:solidFill>
                  <a:srgbClr val="4A5B68"/>
                </a:solidFill>
                <a:latin typeface="Aptos"/>
              </a:defRPr>
            </a:pPr>
            <a:r>
              <a:t>Python 3</a:t>
            </a:r>
          </a:p>
        </p:txBody>
      </p:sp>
      <p:sp>
        <p:nvSpPr>
          <p:cNvPr id="35" name="Rectangle 34"/>
          <p:cNvSpPr/>
          <p:nvPr/>
        </p:nvSpPr>
        <p:spPr>
          <a:xfrm>
            <a:off x="4754880" y="3840480"/>
            <a:ext cx="5852160" cy="731520"/>
          </a:xfrm>
          <a:prstGeom prst="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64608" y="4023360"/>
            <a:ext cx="5632704" cy="347472"/>
          </a:xfrm>
          <a:prstGeom prst="rect">
            <a:avLst/>
          </a:prstGeom>
          <a:noFill/>
        </p:spPr>
        <p:txBody>
          <a:bodyPr wrap="square" lIns="36576" tIns="36576" rIns="36576" bIns="36576" anchor="t">
            <a:spAutoFit/>
          </a:bodyPr>
          <a:lstStyle/>
          <a:p>
            <a:pPr>
              <a:defRPr sz="1400" b="0">
                <a:solidFill>
                  <a:srgbClr val="4A5B68"/>
                </a:solidFill>
                <a:latin typeface="Aptos"/>
              </a:defRPr>
            </a:pPr>
            <a:r>
              <a:t>Run the local web server and Linux process logic.</a:t>
            </a:r>
          </a:p>
        </p:txBody>
      </p:sp>
      <p:sp>
        <p:nvSpPr>
          <p:cNvPr id="37" name="Rectangle 36"/>
          <p:cNvSpPr/>
          <p:nvPr/>
        </p:nvSpPr>
        <p:spPr>
          <a:xfrm>
            <a:off x="1828800" y="4572000"/>
            <a:ext cx="2926080" cy="731520"/>
          </a:xfrm>
          <a:prstGeom prst="rect">
            <a:avLst/>
          </a:prstGeom>
          <a:solidFill>
            <a:srgbClr val="FFFFFF"/>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938528" y="4754880"/>
            <a:ext cx="2706624" cy="347472"/>
          </a:xfrm>
          <a:prstGeom prst="rect">
            <a:avLst/>
          </a:prstGeom>
          <a:noFill/>
        </p:spPr>
        <p:txBody>
          <a:bodyPr wrap="square" lIns="36576" tIns="36576" rIns="36576" bIns="36576" anchor="t">
            <a:spAutoFit/>
          </a:bodyPr>
          <a:lstStyle/>
          <a:p>
            <a:pPr algn="ctr">
              <a:defRPr sz="1400" b="1">
                <a:solidFill>
                  <a:srgbClr val="4A5B68"/>
                </a:solidFill>
                <a:latin typeface="Aptos"/>
              </a:defRPr>
            </a:pPr>
            <a:r>
              <a:t>Linux / Ubuntu</a:t>
            </a:r>
          </a:p>
        </p:txBody>
      </p:sp>
      <p:sp>
        <p:nvSpPr>
          <p:cNvPr id="39" name="Rectangle 38"/>
          <p:cNvSpPr/>
          <p:nvPr/>
        </p:nvSpPr>
        <p:spPr>
          <a:xfrm>
            <a:off x="4754880" y="4572000"/>
            <a:ext cx="5852160" cy="731520"/>
          </a:xfrm>
          <a:prstGeom prst="rect">
            <a:avLst/>
          </a:prstGeom>
          <a:solidFill>
            <a:srgbClr val="FFFFFF"/>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64608" y="4754880"/>
            <a:ext cx="5632704" cy="347472"/>
          </a:xfrm>
          <a:prstGeom prst="rect">
            <a:avLst/>
          </a:prstGeom>
          <a:noFill/>
        </p:spPr>
        <p:txBody>
          <a:bodyPr wrap="square" lIns="36576" tIns="36576" rIns="36576" bIns="36576" anchor="t">
            <a:spAutoFit/>
          </a:bodyPr>
          <a:lstStyle/>
          <a:p>
            <a:pPr>
              <a:defRPr sz="1400" b="0">
                <a:solidFill>
                  <a:srgbClr val="4A5B68"/>
                </a:solidFill>
                <a:latin typeface="Aptos"/>
              </a:defRPr>
            </a:pPr>
            <a:r>
              <a:t>Provide /proc data, process controls and system calls.</a:t>
            </a:r>
          </a:p>
        </p:txBody>
      </p:sp>
      <p:sp>
        <p:nvSpPr>
          <p:cNvPr id="41" name="Rectangle 40"/>
          <p:cNvSpPr/>
          <p:nvPr/>
        </p:nvSpPr>
        <p:spPr>
          <a:xfrm>
            <a:off x="1828800" y="5303520"/>
            <a:ext cx="2926080" cy="731520"/>
          </a:xfrm>
          <a:prstGeom prst="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938528" y="5486400"/>
            <a:ext cx="2706624" cy="347472"/>
          </a:xfrm>
          <a:prstGeom prst="rect">
            <a:avLst/>
          </a:prstGeom>
          <a:noFill/>
        </p:spPr>
        <p:txBody>
          <a:bodyPr wrap="square" lIns="36576" tIns="36576" rIns="36576" bIns="36576" anchor="t">
            <a:spAutoFit/>
          </a:bodyPr>
          <a:lstStyle/>
          <a:p>
            <a:pPr algn="ctr">
              <a:defRPr sz="1400" b="1">
                <a:solidFill>
                  <a:srgbClr val="4A5B68"/>
                </a:solidFill>
                <a:latin typeface="Aptos"/>
              </a:defRPr>
            </a:pPr>
            <a:r>
              <a:t>Web browser</a:t>
            </a:r>
          </a:p>
        </p:txBody>
      </p:sp>
      <p:sp>
        <p:nvSpPr>
          <p:cNvPr id="43" name="Rectangle 42"/>
          <p:cNvSpPr/>
          <p:nvPr/>
        </p:nvSpPr>
        <p:spPr>
          <a:xfrm>
            <a:off x="4754880" y="5303520"/>
            <a:ext cx="5852160" cy="731520"/>
          </a:xfrm>
          <a:prstGeom prst="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864608" y="5486400"/>
            <a:ext cx="5632704" cy="347472"/>
          </a:xfrm>
          <a:prstGeom prst="rect">
            <a:avLst/>
          </a:prstGeom>
          <a:noFill/>
        </p:spPr>
        <p:txBody>
          <a:bodyPr wrap="square" lIns="36576" tIns="36576" rIns="36576" bIns="36576" anchor="t">
            <a:spAutoFit/>
          </a:bodyPr>
          <a:lstStyle/>
          <a:p>
            <a:pPr>
              <a:defRPr sz="1400" b="0">
                <a:solidFill>
                  <a:srgbClr val="4A5B68"/>
                </a:solidFill>
                <a:latin typeface="Aptos"/>
              </a:defRPr>
            </a:pPr>
            <a:r>
              <a:t>Open the dashboard at http://localhost:8000.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Arc 1"/>
          <p:cNvSpPr/>
          <p:nvPr/>
        </p:nvSpPr>
        <p:spPr>
          <a:xfrm>
            <a:off x="-384048" y="-502920"/>
            <a:ext cx="1920240" cy="160020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rc 2"/>
          <p:cNvSpPr/>
          <p:nvPr/>
        </p:nvSpPr>
        <p:spPr>
          <a:xfrm>
            <a:off x="10835640" y="5715000"/>
            <a:ext cx="1828800" cy="155448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rc 3"/>
          <p:cNvSpPr/>
          <p:nvPr/>
        </p:nvSpPr>
        <p:spPr>
          <a:xfrm>
            <a:off x="-301751" y="-438912"/>
            <a:ext cx="1847088" cy="1545336"/>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rc 4"/>
          <p:cNvSpPr/>
          <p:nvPr/>
        </p:nvSpPr>
        <p:spPr>
          <a:xfrm>
            <a:off x="10899648" y="5769864"/>
            <a:ext cx="1773936" cy="150876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rc 5"/>
          <p:cNvSpPr/>
          <p:nvPr/>
        </p:nvSpPr>
        <p:spPr>
          <a:xfrm>
            <a:off x="-219456" y="-374904"/>
            <a:ext cx="1773936" cy="1490472"/>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rc 6"/>
          <p:cNvSpPr/>
          <p:nvPr/>
        </p:nvSpPr>
        <p:spPr>
          <a:xfrm>
            <a:off x="10963656" y="5824728"/>
            <a:ext cx="1719072" cy="1463039"/>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rc 7"/>
          <p:cNvSpPr/>
          <p:nvPr/>
        </p:nvSpPr>
        <p:spPr>
          <a:xfrm>
            <a:off x="-137159" y="-310896"/>
            <a:ext cx="1700784" cy="1435608"/>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rc 8"/>
          <p:cNvSpPr/>
          <p:nvPr/>
        </p:nvSpPr>
        <p:spPr>
          <a:xfrm>
            <a:off x="11027664" y="5879592"/>
            <a:ext cx="1664208" cy="1417319"/>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rc 9"/>
          <p:cNvSpPr/>
          <p:nvPr/>
        </p:nvSpPr>
        <p:spPr>
          <a:xfrm>
            <a:off x="-54864" y="-246888"/>
            <a:ext cx="1627632" cy="1380744"/>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rc 10"/>
          <p:cNvSpPr/>
          <p:nvPr/>
        </p:nvSpPr>
        <p:spPr>
          <a:xfrm>
            <a:off x="11091672" y="5934456"/>
            <a:ext cx="1609344" cy="137160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rc 11"/>
          <p:cNvSpPr/>
          <p:nvPr/>
        </p:nvSpPr>
        <p:spPr>
          <a:xfrm>
            <a:off x="27431" y="-182880"/>
            <a:ext cx="1554480" cy="132588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rc 12"/>
          <p:cNvSpPr/>
          <p:nvPr/>
        </p:nvSpPr>
        <p:spPr>
          <a:xfrm>
            <a:off x="11155680" y="5989320"/>
            <a:ext cx="1554480" cy="132588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rc 13"/>
          <p:cNvSpPr/>
          <p:nvPr/>
        </p:nvSpPr>
        <p:spPr>
          <a:xfrm>
            <a:off x="109728" y="-118872"/>
            <a:ext cx="1481328" cy="1271016"/>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rc 14"/>
          <p:cNvSpPr/>
          <p:nvPr/>
        </p:nvSpPr>
        <p:spPr>
          <a:xfrm>
            <a:off x="11219688" y="6044184"/>
            <a:ext cx="1499616" cy="128016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iamond 15"/>
          <p:cNvSpPr/>
          <p:nvPr/>
        </p:nvSpPr>
        <p:spPr>
          <a:xfrm>
            <a:off x="11292840" y="137160"/>
            <a:ext cx="438912" cy="822960"/>
          </a:xfrm>
          <a:prstGeom prst="diamond">
            <a:avLst/>
          </a:prstGeom>
          <a:solidFill>
            <a:srgbClr val="E2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amond 16"/>
          <p:cNvSpPr/>
          <p:nvPr/>
        </p:nvSpPr>
        <p:spPr>
          <a:xfrm>
            <a:off x="0" y="5303520"/>
            <a:ext cx="347472" cy="868680"/>
          </a:xfrm>
          <a:prstGeom prst="diamond">
            <a:avLst/>
          </a:prstGeom>
          <a:solidFill>
            <a:srgbClr val="E2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475488"/>
            <a:ext cx="10058400" cy="530352"/>
          </a:xfrm>
          <a:prstGeom prst="rect">
            <a:avLst/>
          </a:prstGeom>
          <a:noFill/>
        </p:spPr>
        <p:txBody>
          <a:bodyPr wrap="square" lIns="36576" tIns="36576" rIns="36576" bIns="36576" anchor="t">
            <a:spAutoFit/>
          </a:bodyPr>
          <a:lstStyle/>
          <a:p>
            <a:pPr algn="ctr">
              <a:defRPr sz="2800" b="1">
                <a:solidFill>
                  <a:srgbClr val="375B75"/>
                </a:solidFill>
                <a:latin typeface="Aptos Display"/>
              </a:defRPr>
            </a:pPr>
            <a:r>
              <a:t>MAIN MODULES</a:t>
            </a:r>
          </a:p>
        </p:txBody>
      </p:sp>
      <p:sp>
        <p:nvSpPr>
          <p:cNvPr id="19" name="Rectangle 18"/>
          <p:cNvSpPr/>
          <p:nvPr/>
        </p:nvSpPr>
        <p:spPr>
          <a:xfrm>
            <a:off x="2971800" y="1115568"/>
            <a:ext cx="6263640" cy="22860"/>
          </a:xfrm>
          <a:prstGeom prst="rect">
            <a:avLst/>
          </a:prstGeom>
          <a:solidFill>
            <a:srgbClr val="6E8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881360" y="512064"/>
            <a:ext cx="457200" cy="228600"/>
          </a:xfrm>
          <a:prstGeom prst="rect">
            <a:avLst/>
          </a:prstGeom>
          <a:noFill/>
        </p:spPr>
        <p:txBody>
          <a:bodyPr wrap="square" lIns="36576" tIns="36576" rIns="36576" bIns="36576" anchor="t">
            <a:spAutoFit/>
          </a:bodyPr>
          <a:lstStyle/>
          <a:p>
            <a:pPr algn="r">
              <a:defRPr sz="900" b="1">
                <a:solidFill>
                  <a:srgbClr val="6E8FA3"/>
                </a:solidFill>
                <a:latin typeface="Aptos"/>
              </a:defRPr>
            </a:pPr>
            <a:r>
              <a:t>08</a:t>
            </a:r>
          </a:p>
        </p:txBody>
      </p:sp>
      <p:sp>
        <p:nvSpPr>
          <p:cNvPr id="21" name="Rounded Rectangle 20"/>
          <p:cNvSpPr/>
          <p:nvPr/>
        </p:nvSpPr>
        <p:spPr>
          <a:xfrm>
            <a:off x="914400" y="1600200"/>
            <a:ext cx="4800600" cy="1325880"/>
          </a:xfrm>
          <a:prstGeom prst="round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8992" y="1737360"/>
            <a:ext cx="4471416" cy="320040"/>
          </a:xfrm>
          <a:prstGeom prst="rect">
            <a:avLst/>
          </a:prstGeom>
          <a:noFill/>
        </p:spPr>
        <p:txBody>
          <a:bodyPr wrap="square" lIns="36576" tIns="36576" rIns="36576" bIns="36576" anchor="t">
            <a:spAutoFit/>
          </a:bodyPr>
          <a:lstStyle/>
          <a:p>
            <a:pPr>
              <a:defRPr sz="1600" b="1">
                <a:solidFill>
                  <a:srgbClr val="375B75"/>
                </a:solidFill>
                <a:latin typeface="Aptos"/>
              </a:defRPr>
            </a:pPr>
            <a:r>
              <a:t>1. System Dashboard</a:t>
            </a:r>
          </a:p>
        </p:txBody>
      </p:sp>
      <p:sp>
        <p:nvSpPr>
          <p:cNvPr id="23" name="TextBox 22"/>
          <p:cNvSpPr txBox="1"/>
          <p:nvPr/>
        </p:nvSpPr>
        <p:spPr>
          <a:xfrm>
            <a:off x="1078992" y="2130552"/>
            <a:ext cx="4471416" cy="667512"/>
          </a:xfrm>
          <a:prstGeom prst="rect">
            <a:avLst/>
          </a:prstGeom>
          <a:noFill/>
        </p:spPr>
        <p:txBody>
          <a:bodyPr wrap="square" lIns="36576" tIns="36576" rIns="36576" bIns="36576" anchor="t">
            <a:spAutoFit/>
          </a:bodyPr>
          <a:lstStyle/>
          <a:p>
            <a:pPr>
              <a:defRPr sz="1400" b="0">
                <a:solidFill>
                  <a:srgbClr val="4A5B68"/>
                </a:solidFill>
                <a:latin typeface="Aptos"/>
              </a:defRPr>
            </a:pPr>
            <a:r>
              <a:t>CPU usage, memory, load average, uptime and process states.</a:t>
            </a:r>
          </a:p>
        </p:txBody>
      </p:sp>
      <p:sp>
        <p:nvSpPr>
          <p:cNvPr id="24" name="Rounded Rectangle 23"/>
          <p:cNvSpPr/>
          <p:nvPr/>
        </p:nvSpPr>
        <p:spPr>
          <a:xfrm>
            <a:off x="6400800" y="1600200"/>
            <a:ext cx="4800600" cy="1325880"/>
          </a:xfrm>
          <a:prstGeom prst="round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65392" y="1737360"/>
            <a:ext cx="4471416" cy="320040"/>
          </a:xfrm>
          <a:prstGeom prst="rect">
            <a:avLst/>
          </a:prstGeom>
          <a:noFill/>
        </p:spPr>
        <p:txBody>
          <a:bodyPr wrap="square" lIns="36576" tIns="36576" rIns="36576" bIns="36576" anchor="t">
            <a:spAutoFit/>
          </a:bodyPr>
          <a:lstStyle/>
          <a:p>
            <a:pPr>
              <a:defRPr sz="1600" b="1">
                <a:solidFill>
                  <a:srgbClr val="375B75"/>
                </a:solidFill>
                <a:latin typeface="Aptos"/>
              </a:defRPr>
            </a:pPr>
            <a:r>
              <a:t>2. Process Management</a:t>
            </a:r>
          </a:p>
        </p:txBody>
      </p:sp>
      <p:sp>
        <p:nvSpPr>
          <p:cNvPr id="26" name="TextBox 25"/>
          <p:cNvSpPr txBox="1"/>
          <p:nvPr/>
        </p:nvSpPr>
        <p:spPr>
          <a:xfrm>
            <a:off x="6565392" y="2130552"/>
            <a:ext cx="4471416" cy="667512"/>
          </a:xfrm>
          <a:prstGeom prst="rect">
            <a:avLst/>
          </a:prstGeom>
          <a:noFill/>
        </p:spPr>
        <p:txBody>
          <a:bodyPr wrap="square" lIns="36576" tIns="36576" rIns="36576" bIns="36576" anchor="t">
            <a:spAutoFit/>
          </a:bodyPr>
          <a:lstStyle/>
          <a:p>
            <a:pPr>
              <a:defRPr sz="1400" b="0">
                <a:solidFill>
                  <a:srgbClr val="4A5B68"/>
                </a:solidFill>
                <a:latin typeface="Aptos"/>
              </a:defRPr>
            </a:pPr>
            <a:r>
              <a:t>View processes, IDs, states, CPU, RAM and scheduling priority.</a:t>
            </a:r>
          </a:p>
        </p:txBody>
      </p:sp>
      <p:sp>
        <p:nvSpPr>
          <p:cNvPr id="27" name="Rounded Rectangle 26"/>
          <p:cNvSpPr/>
          <p:nvPr/>
        </p:nvSpPr>
        <p:spPr>
          <a:xfrm>
            <a:off x="914400" y="3337560"/>
            <a:ext cx="4800600" cy="1325880"/>
          </a:xfrm>
          <a:prstGeom prst="round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992" y="3474720"/>
            <a:ext cx="4471416" cy="320040"/>
          </a:xfrm>
          <a:prstGeom prst="rect">
            <a:avLst/>
          </a:prstGeom>
          <a:noFill/>
        </p:spPr>
        <p:txBody>
          <a:bodyPr wrap="square" lIns="36576" tIns="36576" rIns="36576" bIns="36576" anchor="t">
            <a:spAutoFit/>
          </a:bodyPr>
          <a:lstStyle/>
          <a:p>
            <a:pPr>
              <a:defRPr sz="1600" b="1">
                <a:solidFill>
                  <a:srgbClr val="375B75"/>
                </a:solidFill>
                <a:latin typeface="Aptos"/>
              </a:defRPr>
            </a:pPr>
            <a:r>
              <a:t>3. Smart Allocator</a:t>
            </a:r>
          </a:p>
        </p:txBody>
      </p:sp>
      <p:sp>
        <p:nvSpPr>
          <p:cNvPr id="29" name="TextBox 28"/>
          <p:cNvSpPr txBox="1"/>
          <p:nvPr/>
        </p:nvSpPr>
        <p:spPr>
          <a:xfrm>
            <a:off x="1078992" y="3867911"/>
            <a:ext cx="4471416" cy="667512"/>
          </a:xfrm>
          <a:prstGeom prst="rect">
            <a:avLst/>
          </a:prstGeom>
          <a:noFill/>
        </p:spPr>
        <p:txBody>
          <a:bodyPr wrap="square" lIns="36576" tIns="36576" rIns="36576" bIns="36576" anchor="t">
            <a:spAutoFit/>
          </a:bodyPr>
          <a:lstStyle/>
          <a:p>
            <a:pPr>
              <a:defRPr sz="1400" b="0">
                <a:solidFill>
                  <a:srgbClr val="4A5B68"/>
                </a:solidFill>
                <a:latin typeface="Aptos"/>
              </a:defRPr>
            </a:pPr>
            <a:r>
              <a:t>Create workers, set maximum CPU/RAM needs and submit requests.</a:t>
            </a:r>
          </a:p>
        </p:txBody>
      </p:sp>
      <p:sp>
        <p:nvSpPr>
          <p:cNvPr id="30" name="Rounded Rectangle 29"/>
          <p:cNvSpPr/>
          <p:nvPr/>
        </p:nvSpPr>
        <p:spPr>
          <a:xfrm>
            <a:off x="6400800" y="3337560"/>
            <a:ext cx="4800600" cy="1325880"/>
          </a:xfrm>
          <a:prstGeom prst="round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65392" y="3474720"/>
            <a:ext cx="4471416" cy="320040"/>
          </a:xfrm>
          <a:prstGeom prst="rect">
            <a:avLst/>
          </a:prstGeom>
          <a:noFill/>
        </p:spPr>
        <p:txBody>
          <a:bodyPr wrap="square" lIns="36576" tIns="36576" rIns="36576" bIns="36576" anchor="t">
            <a:spAutoFit/>
          </a:bodyPr>
          <a:lstStyle/>
          <a:p>
            <a:pPr>
              <a:defRPr sz="1600" b="1">
                <a:solidFill>
                  <a:srgbClr val="375B75"/>
                </a:solidFill>
                <a:latin typeface="Aptos"/>
              </a:defRPr>
            </a:pPr>
            <a:r>
              <a:t>4. Safety Check</a:t>
            </a:r>
          </a:p>
        </p:txBody>
      </p:sp>
      <p:sp>
        <p:nvSpPr>
          <p:cNvPr id="32" name="TextBox 31"/>
          <p:cNvSpPr txBox="1"/>
          <p:nvPr/>
        </p:nvSpPr>
        <p:spPr>
          <a:xfrm>
            <a:off x="6565392" y="3867911"/>
            <a:ext cx="4471416" cy="667512"/>
          </a:xfrm>
          <a:prstGeom prst="rect">
            <a:avLst/>
          </a:prstGeom>
          <a:noFill/>
        </p:spPr>
        <p:txBody>
          <a:bodyPr wrap="square" lIns="36576" tIns="36576" rIns="36576" bIns="36576" anchor="t">
            <a:spAutoFit/>
          </a:bodyPr>
          <a:lstStyle/>
          <a:p>
            <a:pPr>
              <a:defRPr sz="1400" b="0">
                <a:solidFill>
                  <a:srgbClr val="4A5B68"/>
                </a:solidFill>
                <a:latin typeface="Aptos"/>
              </a:defRPr>
            </a:pPr>
            <a:r>
              <a:t>Check resource availability and display the safe sequence or reason for rejection.</a:t>
            </a:r>
          </a:p>
        </p:txBody>
      </p:sp>
      <p:sp>
        <p:nvSpPr>
          <p:cNvPr id="33" name="TextBox 32"/>
          <p:cNvSpPr txBox="1"/>
          <p:nvPr/>
        </p:nvSpPr>
        <p:spPr>
          <a:xfrm>
            <a:off x="1645920" y="5303520"/>
            <a:ext cx="8961120" cy="365760"/>
          </a:xfrm>
          <a:prstGeom prst="rect">
            <a:avLst/>
          </a:prstGeom>
          <a:noFill/>
        </p:spPr>
        <p:txBody>
          <a:bodyPr wrap="square" lIns="36576" tIns="36576" rIns="36576" bIns="36576" anchor="t">
            <a:spAutoFit/>
          </a:bodyPr>
          <a:lstStyle/>
          <a:p>
            <a:pPr algn="ctr">
              <a:defRPr sz="1500" b="1">
                <a:solidFill>
                  <a:srgbClr val="375B75"/>
                </a:solidFill>
                <a:latin typeface="Aptos"/>
              </a:defRPr>
            </a:pPr>
            <a:r>
              <a:t>The app controls only worker processes created by itself.</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Arc 1"/>
          <p:cNvSpPr/>
          <p:nvPr/>
        </p:nvSpPr>
        <p:spPr>
          <a:xfrm>
            <a:off x="-384048" y="-502920"/>
            <a:ext cx="1920240" cy="160020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rc 2"/>
          <p:cNvSpPr/>
          <p:nvPr/>
        </p:nvSpPr>
        <p:spPr>
          <a:xfrm>
            <a:off x="10835640" y="5715000"/>
            <a:ext cx="1828800" cy="155448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rc 3"/>
          <p:cNvSpPr/>
          <p:nvPr/>
        </p:nvSpPr>
        <p:spPr>
          <a:xfrm>
            <a:off x="-301751" y="-438912"/>
            <a:ext cx="1847088" cy="1545336"/>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rc 4"/>
          <p:cNvSpPr/>
          <p:nvPr/>
        </p:nvSpPr>
        <p:spPr>
          <a:xfrm>
            <a:off x="10899648" y="5769864"/>
            <a:ext cx="1773936" cy="150876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rc 5"/>
          <p:cNvSpPr/>
          <p:nvPr/>
        </p:nvSpPr>
        <p:spPr>
          <a:xfrm>
            <a:off x="-219456" y="-374904"/>
            <a:ext cx="1773936" cy="1490472"/>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rc 6"/>
          <p:cNvSpPr/>
          <p:nvPr/>
        </p:nvSpPr>
        <p:spPr>
          <a:xfrm>
            <a:off x="10963656" y="5824728"/>
            <a:ext cx="1719072" cy="1463039"/>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rc 7"/>
          <p:cNvSpPr/>
          <p:nvPr/>
        </p:nvSpPr>
        <p:spPr>
          <a:xfrm>
            <a:off x="-137159" y="-310896"/>
            <a:ext cx="1700784" cy="1435608"/>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rc 8"/>
          <p:cNvSpPr/>
          <p:nvPr/>
        </p:nvSpPr>
        <p:spPr>
          <a:xfrm>
            <a:off x="11027664" y="5879592"/>
            <a:ext cx="1664208" cy="1417319"/>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rc 9"/>
          <p:cNvSpPr/>
          <p:nvPr/>
        </p:nvSpPr>
        <p:spPr>
          <a:xfrm>
            <a:off x="-54864" y="-246888"/>
            <a:ext cx="1627632" cy="1380744"/>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rc 10"/>
          <p:cNvSpPr/>
          <p:nvPr/>
        </p:nvSpPr>
        <p:spPr>
          <a:xfrm>
            <a:off x="11091672" y="5934456"/>
            <a:ext cx="1609344" cy="137160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rc 11"/>
          <p:cNvSpPr/>
          <p:nvPr/>
        </p:nvSpPr>
        <p:spPr>
          <a:xfrm>
            <a:off x="27431" y="-182880"/>
            <a:ext cx="1554480" cy="132588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rc 12"/>
          <p:cNvSpPr/>
          <p:nvPr/>
        </p:nvSpPr>
        <p:spPr>
          <a:xfrm>
            <a:off x="11155680" y="5989320"/>
            <a:ext cx="1554480" cy="132588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rc 13"/>
          <p:cNvSpPr/>
          <p:nvPr/>
        </p:nvSpPr>
        <p:spPr>
          <a:xfrm>
            <a:off x="109728" y="-118872"/>
            <a:ext cx="1481328" cy="1271016"/>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rc 14"/>
          <p:cNvSpPr/>
          <p:nvPr/>
        </p:nvSpPr>
        <p:spPr>
          <a:xfrm>
            <a:off x="11219688" y="6044184"/>
            <a:ext cx="1499616" cy="128016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iamond 15"/>
          <p:cNvSpPr/>
          <p:nvPr/>
        </p:nvSpPr>
        <p:spPr>
          <a:xfrm>
            <a:off x="11292840" y="137160"/>
            <a:ext cx="438912" cy="822960"/>
          </a:xfrm>
          <a:prstGeom prst="diamond">
            <a:avLst/>
          </a:prstGeom>
          <a:solidFill>
            <a:srgbClr val="E2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amond 16"/>
          <p:cNvSpPr/>
          <p:nvPr/>
        </p:nvSpPr>
        <p:spPr>
          <a:xfrm>
            <a:off x="0" y="5303520"/>
            <a:ext cx="347472" cy="868680"/>
          </a:xfrm>
          <a:prstGeom prst="diamond">
            <a:avLst/>
          </a:prstGeom>
          <a:solidFill>
            <a:srgbClr val="E2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475488"/>
            <a:ext cx="10058400" cy="530352"/>
          </a:xfrm>
          <a:prstGeom prst="rect">
            <a:avLst/>
          </a:prstGeom>
          <a:noFill/>
        </p:spPr>
        <p:txBody>
          <a:bodyPr wrap="square" lIns="36576" tIns="36576" rIns="36576" bIns="36576" anchor="t">
            <a:spAutoFit/>
          </a:bodyPr>
          <a:lstStyle/>
          <a:p>
            <a:pPr algn="ctr">
              <a:defRPr sz="2800" b="1">
                <a:solidFill>
                  <a:srgbClr val="375B75"/>
                </a:solidFill>
                <a:latin typeface="Aptos Display"/>
              </a:defRPr>
            </a:pPr>
            <a:r>
              <a:t>OPERATING SYSTEMS CONCEPTS USED</a:t>
            </a:r>
          </a:p>
        </p:txBody>
      </p:sp>
      <p:sp>
        <p:nvSpPr>
          <p:cNvPr id="19" name="Rectangle 18"/>
          <p:cNvSpPr/>
          <p:nvPr/>
        </p:nvSpPr>
        <p:spPr>
          <a:xfrm>
            <a:off x="2971800" y="1115568"/>
            <a:ext cx="6263640" cy="22860"/>
          </a:xfrm>
          <a:prstGeom prst="rect">
            <a:avLst/>
          </a:prstGeom>
          <a:solidFill>
            <a:srgbClr val="6E8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881360" y="512064"/>
            <a:ext cx="457200" cy="228600"/>
          </a:xfrm>
          <a:prstGeom prst="rect">
            <a:avLst/>
          </a:prstGeom>
          <a:noFill/>
        </p:spPr>
        <p:txBody>
          <a:bodyPr wrap="square" lIns="36576" tIns="36576" rIns="36576" bIns="36576" anchor="t">
            <a:spAutoFit/>
          </a:bodyPr>
          <a:lstStyle/>
          <a:p>
            <a:pPr algn="r">
              <a:defRPr sz="900" b="1">
                <a:solidFill>
                  <a:srgbClr val="6E8FA3"/>
                </a:solidFill>
                <a:latin typeface="Aptos"/>
              </a:defRPr>
            </a:pPr>
            <a:r>
              <a:t>09</a:t>
            </a:r>
          </a:p>
        </p:txBody>
      </p:sp>
      <p:sp>
        <p:nvSpPr>
          <p:cNvPr id="21" name="Rounded Rectangle 20"/>
          <p:cNvSpPr/>
          <p:nvPr/>
        </p:nvSpPr>
        <p:spPr>
          <a:xfrm>
            <a:off x="868680" y="1508760"/>
            <a:ext cx="5074920" cy="1024128"/>
          </a:xfrm>
          <a:prstGeom prst="round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3271" y="1645919"/>
            <a:ext cx="4745736" cy="320040"/>
          </a:xfrm>
          <a:prstGeom prst="rect">
            <a:avLst/>
          </a:prstGeom>
          <a:noFill/>
        </p:spPr>
        <p:txBody>
          <a:bodyPr wrap="square" lIns="36576" tIns="36576" rIns="36576" bIns="36576" anchor="t">
            <a:spAutoFit/>
          </a:bodyPr>
          <a:lstStyle/>
          <a:p>
            <a:pPr>
              <a:defRPr sz="1500" b="1">
                <a:solidFill>
                  <a:srgbClr val="375B75"/>
                </a:solidFill>
                <a:latin typeface="Aptos"/>
              </a:defRPr>
            </a:pPr>
            <a:r>
              <a:t>/proc</a:t>
            </a:r>
          </a:p>
        </p:txBody>
      </p:sp>
      <p:sp>
        <p:nvSpPr>
          <p:cNvPr id="23" name="TextBox 22"/>
          <p:cNvSpPr txBox="1"/>
          <p:nvPr/>
        </p:nvSpPr>
        <p:spPr>
          <a:xfrm>
            <a:off x="1033271" y="2039112"/>
            <a:ext cx="4745736" cy="365760"/>
          </a:xfrm>
          <a:prstGeom prst="rect">
            <a:avLst/>
          </a:prstGeom>
          <a:noFill/>
        </p:spPr>
        <p:txBody>
          <a:bodyPr wrap="square" lIns="36576" tIns="36576" rIns="36576" bIns="36576" anchor="t">
            <a:spAutoFit/>
          </a:bodyPr>
          <a:lstStyle/>
          <a:p>
            <a:pPr>
              <a:defRPr sz="1300" b="0">
                <a:solidFill>
                  <a:srgbClr val="4A5B68"/>
                </a:solidFill>
                <a:latin typeface="Aptos"/>
              </a:defRPr>
            </a:pPr>
            <a:r>
              <a:t>Reads live CPU, memory and process information.</a:t>
            </a:r>
          </a:p>
        </p:txBody>
      </p:sp>
      <p:sp>
        <p:nvSpPr>
          <p:cNvPr id="24" name="Rounded Rectangle 23"/>
          <p:cNvSpPr/>
          <p:nvPr/>
        </p:nvSpPr>
        <p:spPr>
          <a:xfrm>
            <a:off x="6492240" y="1508760"/>
            <a:ext cx="5074920" cy="1024128"/>
          </a:xfrm>
          <a:prstGeom prst="round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56832" y="1645919"/>
            <a:ext cx="4745736" cy="320040"/>
          </a:xfrm>
          <a:prstGeom prst="rect">
            <a:avLst/>
          </a:prstGeom>
          <a:noFill/>
        </p:spPr>
        <p:txBody>
          <a:bodyPr wrap="square" lIns="36576" tIns="36576" rIns="36576" bIns="36576" anchor="t">
            <a:spAutoFit/>
          </a:bodyPr>
          <a:lstStyle/>
          <a:p>
            <a:pPr>
              <a:defRPr sz="1500" b="1">
                <a:solidFill>
                  <a:srgbClr val="375B75"/>
                </a:solidFill>
                <a:latin typeface="Aptos"/>
              </a:defRPr>
            </a:pPr>
            <a:r>
              <a:t>fork / exec</a:t>
            </a:r>
          </a:p>
        </p:txBody>
      </p:sp>
      <p:sp>
        <p:nvSpPr>
          <p:cNvPr id="26" name="TextBox 25"/>
          <p:cNvSpPr txBox="1"/>
          <p:nvPr/>
        </p:nvSpPr>
        <p:spPr>
          <a:xfrm>
            <a:off x="6656832" y="2039112"/>
            <a:ext cx="4745736" cy="365760"/>
          </a:xfrm>
          <a:prstGeom prst="rect">
            <a:avLst/>
          </a:prstGeom>
          <a:noFill/>
        </p:spPr>
        <p:txBody>
          <a:bodyPr wrap="square" lIns="36576" tIns="36576" rIns="36576" bIns="36576" anchor="t">
            <a:spAutoFit/>
          </a:bodyPr>
          <a:lstStyle/>
          <a:p>
            <a:pPr>
              <a:defRPr sz="1300" b="0">
                <a:solidFill>
                  <a:srgbClr val="4A5B68"/>
                </a:solidFill>
                <a:latin typeface="Aptos"/>
              </a:defRPr>
            </a:pPr>
            <a:r>
              <a:t>Starts worker processes.</a:t>
            </a:r>
          </a:p>
        </p:txBody>
      </p:sp>
      <p:sp>
        <p:nvSpPr>
          <p:cNvPr id="27" name="Rounded Rectangle 26"/>
          <p:cNvSpPr/>
          <p:nvPr/>
        </p:nvSpPr>
        <p:spPr>
          <a:xfrm>
            <a:off x="868680" y="2807208"/>
            <a:ext cx="5074920" cy="1024128"/>
          </a:xfrm>
          <a:prstGeom prst="round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1" y="2944368"/>
            <a:ext cx="4745736" cy="320040"/>
          </a:xfrm>
          <a:prstGeom prst="rect">
            <a:avLst/>
          </a:prstGeom>
          <a:noFill/>
        </p:spPr>
        <p:txBody>
          <a:bodyPr wrap="square" lIns="36576" tIns="36576" rIns="36576" bIns="36576" anchor="t">
            <a:spAutoFit/>
          </a:bodyPr>
          <a:lstStyle/>
          <a:p>
            <a:pPr>
              <a:defRPr sz="1500" b="1">
                <a:solidFill>
                  <a:srgbClr val="375B75"/>
                </a:solidFill>
                <a:latin typeface="Aptos"/>
              </a:defRPr>
            </a:pPr>
            <a:r>
              <a:t>Pipes (IPC)</a:t>
            </a:r>
          </a:p>
        </p:txBody>
      </p:sp>
      <p:sp>
        <p:nvSpPr>
          <p:cNvPr id="29" name="TextBox 28"/>
          <p:cNvSpPr txBox="1"/>
          <p:nvPr/>
        </p:nvSpPr>
        <p:spPr>
          <a:xfrm>
            <a:off x="1033271" y="3337560"/>
            <a:ext cx="4745736" cy="365760"/>
          </a:xfrm>
          <a:prstGeom prst="rect">
            <a:avLst/>
          </a:prstGeom>
          <a:noFill/>
        </p:spPr>
        <p:txBody>
          <a:bodyPr wrap="square" lIns="36576" tIns="36576" rIns="36576" bIns="36576" anchor="t">
            <a:spAutoFit/>
          </a:bodyPr>
          <a:lstStyle/>
          <a:p>
            <a:pPr>
              <a:defRPr sz="1300" b="0">
                <a:solidFill>
                  <a:srgbClr val="4A5B68"/>
                </a:solidFill>
                <a:latin typeface="Aptos"/>
              </a:defRPr>
            </a:pPr>
            <a:r>
              <a:t>Sends resource commands to workers.</a:t>
            </a:r>
          </a:p>
        </p:txBody>
      </p:sp>
      <p:sp>
        <p:nvSpPr>
          <p:cNvPr id="30" name="Rounded Rectangle 29"/>
          <p:cNvSpPr/>
          <p:nvPr/>
        </p:nvSpPr>
        <p:spPr>
          <a:xfrm>
            <a:off x="6492240" y="2807208"/>
            <a:ext cx="5074920" cy="1024128"/>
          </a:xfrm>
          <a:prstGeom prst="round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56832" y="2944368"/>
            <a:ext cx="4745736" cy="320040"/>
          </a:xfrm>
          <a:prstGeom prst="rect">
            <a:avLst/>
          </a:prstGeom>
          <a:noFill/>
        </p:spPr>
        <p:txBody>
          <a:bodyPr wrap="square" lIns="36576" tIns="36576" rIns="36576" bIns="36576" anchor="t">
            <a:spAutoFit/>
          </a:bodyPr>
          <a:lstStyle/>
          <a:p>
            <a:pPr>
              <a:defRPr sz="1500" b="1">
                <a:solidFill>
                  <a:srgbClr val="375B75"/>
                </a:solidFill>
                <a:latin typeface="Aptos"/>
              </a:defRPr>
            </a:pPr>
            <a:r>
              <a:t>Signals</a:t>
            </a:r>
          </a:p>
        </p:txBody>
      </p:sp>
      <p:sp>
        <p:nvSpPr>
          <p:cNvPr id="32" name="TextBox 31"/>
          <p:cNvSpPr txBox="1"/>
          <p:nvPr/>
        </p:nvSpPr>
        <p:spPr>
          <a:xfrm>
            <a:off x="6656832" y="3337560"/>
            <a:ext cx="4745736" cy="365760"/>
          </a:xfrm>
          <a:prstGeom prst="rect">
            <a:avLst/>
          </a:prstGeom>
          <a:noFill/>
        </p:spPr>
        <p:txBody>
          <a:bodyPr wrap="square" lIns="36576" tIns="36576" rIns="36576" bIns="36576" anchor="t">
            <a:spAutoFit/>
          </a:bodyPr>
          <a:lstStyle/>
          <a:p>
            <a:pPr>
              <a:defRPr sz="1300" b="0">
                <a:solidFill>
                  <a:srgbClr val="4A5B68"/>
                </a:solidFill>
                <a:latin typeface="Aptos"/>
              </a:defRPr>
            </a:pPr>
            <a:r>
              <a:t>Stops, continues or terminates app-managed workers.</a:t>
            </a:r>
          </a:p>
        </p:txBody>
      </p:sp>
      <p:sp>
        <p:nvSpPr>
          <p:cNvPr id="33" name="Rounded Rectangle 32"/>
          <p:cNvSpPr/>
          <p:nvPr/>
        </p:nvSpPr>
        <p:spPr>
          <a:xfrm>
            <a:off x="868680" y="4105656"/>
            <a:ext cx="5074920" cy="1024128"/>
          </a:xfrm>
          <a:prstGeom prst="round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3271" y="4242816"/>
            <a:ext cx="4745736" cy="320040"/>
          </a:xfrm>
          <a:prstGeom prst="rect">
            <a:avLst/>
          </a:prstGeom>
          <a:noFill/>
        </p:spPr>
        <p:txBody>
          <a:bodyPr wrap="square" lIns="36576" tIns="36576" rIns="36576" bIns="36576" anchor="t">
            <a:spAutoFit/>
          </a:bodyPr>
          <a:lstStyle/>
          <a:p>
            <a:pPr>
              <a:defRPr sz="1500" b="1">
                <a:solidFill>
                  <a:srgbClr val="375B75"/>
                </a:solidFill>
                <a:latin typeface="Aptos"/>
              </a:defRPr>
            </a:pPr>
            <a:r>
              <a:t>Priority</a:t>
            </a:r>
          </a:p>
        </p:txBody>
      </p:sp>
      <p:sp>
        <p:nvSpPr>
          <p:cNvPr id="35" name="TextBox 34"/>
          <p:cNvSpPr txBox="1"/>
          <p:nvPr/>
        </p:nvSpPr>
        <p:spPr>
          <a:xfrm>
            <a:off x="1033271" y="4636008"/>
            <a:ext cx="4745736" cy="365760"/>
          </a:xfrm>
          <a:prstGeom prst="rect">
            <a:avLst/>
          </a:prstGeom>
          <a:noFill/>
        </p:spPr>
        <p:txBody>
          <a:bodyPr wrap="square" lIns="36576" tIns="36576" rIns="36576" bIns="36576" anchor="t">
            <a:spAutoFit/>
          </a:bodyPr>
          <a:lstStyle/>
          <a:p>
            <a:pPr>
              <a:defRPr sz="1300" b="0">
                <a:solidFill>
                  <a:srgbClr val="4A5B68"/>
                </a:solidFill>
                <a:latin typeface="Aptos"/>
              </a:defRPr>
            </a:pPr>
            <a:r>
              <a:t>Changes worker nice value using setpriority().</a:t>
            </a:r>
          </a:p>
        </p:txBody>
      </p:sp>
      <p:sp>
        <p:nvSpPr>
          <p:cNvPr id="36" name="Rounded Rectangle 35"/>
          <p:cNvSpPr/>
          <p:nvPr/>
        </p:nvSpPr>
        <p:spPr>
          <a:xfrm>
            <a:off x="6492240" y="4105656"/>
            <a:ext cx="5074920" cy="1024128"/>
          </a:xfrm>
          <a:prstGeom prst="roundRect">
            <a:avLst/>
          </a:prstGeom>
          <a:solidFill>
            <a:srgbClr val="EFF4F8"/>
          </a:solidFill>
          <a:ln>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56832" y="4242816"/>
            <a:ext cx="4745736" cy="320040"/>
          </a:xfrm>
          <a:prstGeom prst="rect">
            <a:avLst/>
          </a:prstGeom>
          <a:noFill/>
        </p:spPr>
        <p:txBody>
          <a:bodyPr wrap="square" lIns="36576" tIns="36576" rIns="36576" bIns="36576" anchor="t">
            <a:spAutoFit/>
          </a:bodyPr>
          <a:lstStyle/>
          <a:p>
            <a:pPr>
              <a:defRPr sz="1500" b="1">
                <a:solidFill>
                  <a:srgbClr val="375B75"/>
                </a:solidFill>
                <a:latin typeface="Aptos"/>
              </a:defRPr>
            </a:pPr>
            <a:r>
              <a:t>Banker’s Algorithm</a:t>
            </a:r>
          </a:p>
        </p:txBody>
      </p:sp>
      <p:sp>
        <p:nvSpPr>
          <p:cNvPr id="38" name="TextBox 37"/>
          <p:cNvSpPr txBox="1"/>
          <p:nvPr/>
        </p:nvSpPr>
        <p:spPr>
          <a:xfrm>
            <a:off x="6656832" y="4636008"/>
            <a:ext cx="4745736" cy="365760"/>
          </a:xfrm>
          <a:prstGeom prst="rect">
            <a:avLst/>
          </a:prstGeom>
          <a:noFill/>
        </p:spPr>
        <p:txBody>
          <a:bodyPr wrap="square" lIns="36576" tIns="36576" rIns="36576" bIns="36576" anchor="t">
            <a:spAutoFit/>
          </a:bodyPr>
          <a:lstStyle/>
          <a:p>
            <a:pPr>
              <a:defRPr sz="1300" b="0">
                <a:solidFill>
                  <a:srgbClr val="4A5B68"/>
                </a:solidFill>
                <a:latin typeface="Aptos"/>
              </a:defRPr>
            </a:pPr>
            <a:r>
              <a:t>Checks whether a resource request leaves a safe state.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Arc 1"/>
          <p:cNvSpPr/>
          <p:nvPr/>
        </p:nvSpPr>
        <p:spPr>
          <a:xfrm>
            <a:off x="-384048" y="-502920"/>
            <a:ext cx="1920240" cy="160020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rc 2"/>
          <p:cNvSpPr/>
          <p:nvPr/>
        </p:nvSpPr>
        <p:spPr>
          <a:xfrm>
            <a:off x="10835640" y="5715000"/>
            <a:ext cx="1828800" cy="155448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rc 3"/>
          <p:cNvSpPr/>
          <p:nvPr/>
        </p:nvSpPr>
        <p:spPr>
          <a:xfrm>
            <a:off x="-301751" y="-438912"/>
            <a:ext cx="1847088" cy="1545336"/>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rc 4"/>
          <p:cNvSpPr/>
          <p:nvPr/>
        </p:nvSpPr>
        <p:spPr>
          <a:xfrm>
            <a:off x="10899648" y="5769864"/>
            <a:ext cx="1773936" cy="150876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rc 5"/>
          <p:cNvSpPr/>
          <p:nvPr/>
        </p:nvSpPr>
        <p:spPr>
          <a:xfrm>
            <a:off x="-219456" y="-374904"/>
            <a:ext cx="1773936" cy="1490472"/>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rc 6"/>
          <p:cNvSpPr/>
          <p:nvPr/>
        </p:nvSpPr>
        <p:spPr>
          <a:xfrm>
            <a:off x="10963656" y="5824728"/>
            <a:ext cx="1719072" cy="1463039"/>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rc 7"/>
          <p:cNvSpPr/>
          <p:nvPr/>
        </p:nvSpPr>
        <p:spPr>
          <a:xfrm>
            <a:off x="-137159" y="-310896"/>
            <a:ext cx="1700784" cy="1435608"/>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rc 8"/>
          <p:cNvSpPr/>
          <p:nvPr/>
        </p:nvSpPr>
        <p:spPr>
          <a:xfrm>
            <a:off x="11027664" y="5879592"/>
            <a:ext cx="1664208" cy="1417319"/>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rc 9"/>
          <p:cNvSpPr/>
          <p:nvPr/>
        </p:nvSpPr>
        <p:spPr>
          <a:xfrm>
            <a:off x="-54864" y="-246888"/>
            <a:ext cx="1627632" cy="1380744"/>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rc 10"/>
          <p:cNvSpPr/>
          <p:nvPr/>
        </p:nvSpPr>
        <p:spPr>
          <a:xfrm>
            <a:off x="11091672" y="5934456"/>
            <a:ext cx="1609344" cy="137160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rc 11"/>
          <p:cNvSpPr/>
          <p:nvPr/>
        </p:nvSpPr>
        <p:spPr>
          <a:xfrm>
            <a:off x="27431" y="-182880"/>
            <a:ext cx="1554480" cy="132588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rc 12"/>
          <p:cNvSpPr/>
          <p:nvPr/>
        </p:nvSpPr>
        <p:spPr>
          <a:xfrm>
            <a:off x="11155680" y="5989320"/>
            <a:ext cx="1554480" cy="132588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rc 13"/>
          <p:cNvSpPr/>
          <p:nvPr/>
        </p:nvSpPr>
        <p:spPr>
          <a:xfrm>
            <a:off x="109728" y="-118872"/>
            <a:ext cx="1481328" cy="1271016"/>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rc 14"/>
          <p:cNvSpPr/>
          <p:nvPr/>
        </p:nvSpPr>
        <p:spPr>
          <a:xfrm>
            <a:off x="11219688" y="6044184"/>
            <a:ext cx="1499616" cy="128016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iamond 15"/>
          <p:cNvSpPr/>
          <p:nvPr/>
        </p:nvSpPr>
        <p:spPr>
          <a:xfrm>
            <a:off x="11292840" y="137160"/>
            <a:ext cx="438912" cy="822960"/>
          </a:xfrm>
          <a:prstGeom prst="diamond">
            <a:avLst/>
          </a:prstGeom>
          <a:solidFill>
            <a:srgbClr val="E2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amond 16"/>
          <p:cNvSpPr/>
          <p:nvPr/>
        </p:nvSpPr>
        <p:spPr>
          <a:xfrm>
            <a:off x="0" y="5303520"/>
            <a:ext cx="347472" cy="868680"/>
          </a:xfrm>
          <a:prstGeom prst="diamond">
            <a:avLst/>
          </a:prstGeom>
          <a:solidFill>
            <a:srgbClr val="E2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475488"/>
            <a:ext cx="10058400" cy="530352"/>
          </a:xfrm>
          <a:prstGeom prst="rect">
            <a:avLst/>
          </a:prstGeom>
          <a:noFill/>
        </p:spPr>
        <p:txBody>
          <a:bodyPr wrap="square" lIns="36576" tIns="36576" rIns="36576" bIns="36576" anchor="t">
            <a:spAutoFit/>
          </a:bodyPr>
          <a:lstStyle/>
          <a:p>
            <a:pPr algn="ctr">
              <a:defRPr sz="2800" b="1">
                <a:solidFill>
                  <a:srgbClr val="375B75"/>
                </a:solidFill>
                <a:latin typeface="Aptos Display"/>
              </a:defRPr>
            </a:pPr>
            <a:r>
              <a:t>CONCLUSION</a:t>
            </a:r>
          </a:p>
        </p:txBody>
      </p:sp>
      <p:sp>
        <p:nvSpPr>
          <p:cNvPr id="19" name="Rectangle 18"/>
          <p:cNvSpPr/>
          <p:nvPr/>
        </p:nvSpPr>
        <p:spPr>
          <a:xfrm>
            <a:off x="2971800" y="1115568"/>
            <a:ext cx="6263640" cy="22860"/>
          </a:xfrm>
          <a:prstGeom prst="rect">
            <a:avLst/>
          </a:prstGeom>
          <a:solidFill>
            <a:srgbClr val="6E8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881360" y="512064"/>
            <a:ext cx="457200" cy="228600"/>
          </a:xfrm>
          <a:prstGeom prst="rect">
            <a:avLst/>
          </a:prstGeom>
          <a:noFill/>
        </p:spPr>
        <p:txBody>
          <a:bodyPr wrap="square" lIns="36576" tIns="36576" rIns="36576" bIns="36576" anchor="t">
            <a:spAutoFit/>
          </a:bodyPr>
          <a:lstStyle/>
          <a:p>
            <a:pPr algn="r">
              <a:defRPr sz="900" b="1">
                <a:solidFill>
                  <a:srgbClr val="6E8FA3"/>
                </a:solidFill>
                <a:latin typeface="Aptos"/>
              </a:defRPr>
            </a:pPr>
            <a:r>
              <a:t>11</a:t>
            </a:r>
          </a:p>
        </p:txBody>
      </p:sp>
      <p:sp>
        <p:nvSpPr>
          <p:cNvPr id="21" name="TextBox 20"/>
          <p:cNvSpPr txBox="1"/>
          <p:nvPr/>
        </p:nvSpPr>
        <p:spPr>
          <a:xfrm>
            <a:off x="2118360" y="2001520"/>
            <a:ext cx="7924800" cy="2398395"/>
          </a:xfrm>
          <a:prstGeom prst="rect">
            <a:avLst/>
          </a:prstGeom>
          <a:noFill/>
        </p:spPr>
        <p:txBody>
          <a:bodyPr wrap="square" tIns="91440" bIns="91440" anchor="ctr">
            <a:spAutoFit/>
          </a:bodyPr>
          <a:lstStyle/>
          <a:p>
            <a:pPr algn="just">
              <a:defRPr sz="2200" b="0">
                <a:solidFill>
                  <a:srgbClr val="4A5B68"/>
                </a:solidFill>
                <a:latin typeface="Aptos"/>
              </a:defRPr>
            </a:pPr>
            <a:r>
              <a:rPr sz="2400">
                <a:latin typeface="Times New Roman" panose="02020603050405020304" charset="0"/>
                <a:cs typeface="Times New Roman" panose="02020603050405020304" charset="0"/>
              </a:rPr>
              <a:t>Smart Resource Allocator combines live Linux monitoring with process management and Banker’s Algorithm. It helps users understand CPU and memory usage, inspect running processes and test resource requests before granting them. The project demonstrates core Operating Systems concepts in one simple web interface.</a:t>
            </a:r>
            <a:endParaRPr sz="2400">
              <a:latin typeface="Times New Roman" panose="02020603050405020304" charset="0"/>
              <a:cs typeface="Times New Roman" panose="02020603050405020304" charset="0"/>
            </a:endParaRPr>
          </a:p>
        </p:txBody>
      </p:sp>
      <p:sp>
        <p:nvSpPr>
          <p:cNvPr id="22" name="TextBox 21"/>
          <p:cNvSpPr txBox="1"/>
          <p:nvPr/>
        </p:nvSpPr>
        <p:spPr>
          <a:xfrm>
            <a:off x="1463040" y="5120640"/>
            <a:ext cx="9235440" cy="457200"/>
          </a:xfrm>
          <a:prstGeom prst="rect">
            <a:avLst/>
          </a:prstGeom>
          <a:noFill/>
        </p:spPr>
        <p:txBody>
          <a:bodyPr wrap="square" lIns="36576" tIns="36576" rIns="36576" bIns="36576" anchor="t">
            <a:spAutoFit/>
          </a:bodyPr>
          <a:lstStyle/>
          <a:p>
            <a:pPr algn="ctr">
              <a:defRPr sz="1700" b="1">
                <a:solidFill>
                  <a:srgbClr val="375B75"/>
                </a:solidFill>
                <a:latin typeface="Aptos"/>
              </a:defRPr>
            </a:pPr>
            <a:r>
              <a:t>A practical way to learn process management and deadlock avoidance.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Arc 1"/>
          <p:cNvSpPr/>
          <p:nvPr/>
        </p:nvSpPr>
        <p:spPr>
          <a:xfrm>
            <a:off x="-384048" y="-502920"/>
            <a:ext cx="1920240" cy="160020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rc 2"/>
          <p:cNvSpPr/>
          <p:nvPr/>
        </p:nvSpPr>
        <p:spPr>
          <a:xfrm>
            <a:off x="10835640" y="5715000"/>
            <a:ext cx="1828800" cy="155448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rc 3"/>
          <p:cNvSpPr/>
          <p:nvPr/>
        </p:nvSpPr>
        <p:spPr>
          <a:xfrm>
            <a:off x="-301751" y="-438912"/>
            <a:ext cx="1847088" cy="1545336"/>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rc 4"/>
          <p:cNvSpPr/>
          <p:nvPr/>
        </p:nvSpPr>
        <p:spPr>
          <a:xfrm>
            <a:off x="10899648" y="5769864"/>
            <a:ext cx="1773936" cy="150876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rc 5"/>
          <p:cNvSpPr/>
          <p:nvPr/>
        </p:nvSpPr>
        <p:spPr>
          <a:xfrm>
            <a:off x="-219456" y="-374904"/>
            <a:ext cx="1773936" cy="1490472"/>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rc 6"/>
          <p:cNvSpPr/>
          <p:nvPr/>
        </p:nvSpPr>
        <p:spPr>
          <a:xfrm>
            <a:off x="10835386" y="5769483"/>
            <a:ext cx="1719072" cy="1463039"/>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rc 7"/>
          <p:cNvSpPr/>
          <p:nvPr/>
        </p:nvSpPr>
        <p:spPr>
          <a:xfrm>
            <a:off x="-137159" y="-310896"/>
            <a:ext cx="1700784" cy="1435608"/>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rc 8"/>
          <p:cNvSpPr/>
          <p:nvPr/>
        </p:nvSpPr>
        <p:spPr>
          <a:xfrm>
            <a:off x="11027664" y="5879592"/>
            <a:ext cx="1664208" cy="1417319"/>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rc 9"/>
          <p:cNvSpPr/>
          <p:nvPr/>
        </p:nvSpPr>
        <p:spPr>
          <a:xfrm>
            <a:off x="-54864" y="-246888"/>
            <a:ext cx="1627632" cy="1380744"/>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rc 10"/>
          <p:cNvSpPr/>
          <p:nvPr/>
        </p:nvSpPr>
        <p:spPr>
          <a:xfrm>
            <a:off x="11091672" y="5934456"/>
            <a:ext cx="1609344" cy="137160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rc 11"/>
          <p:cNvSpPr/>
          <p:nvPr/>
        </p:nvSpPr>
        <p:spPr>
          <a:xfrm>
            <a:off x="27431" y="-182880"/>
            <a:ext cx="1554480" cy="132588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rc 12"/>
          <p:cNvSpPr/>
          <p:nvPr/>
        </p:nvSpPr>
        <p:spPr>
          <a:xfrm>
            <a:off x="11155680" y="5989320"/>
            <a:ext cx="1554480" cy="1325880"/>
          </a:xfrm>
          <a:prstGeom prst="arc">
            <a:avLst/>
          </a:prstGeom>
          <a:noFill/>
          <a:ln w="10160">
            <a:solidFill>
              <a:srgbClr val="E2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rc 13"/>
          <p:cNvSpPr/>
          <p:nvPr/>
        </p:nvSpPr>
        <p:spPr>
          <a:xfrm>
            <a:off x="109728" y="-118872"/>
            <a:ext cx="1481328" cy="1271016"/>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rc 14"/>
          <p:cNvSpPr/>
          <p:nvPr/>
        </p:nvSpPr>
        <p:spPr>
          <a:xfrm>
            <a:off x="11219688" y="6044184"/>
            <a:ext cx="1499616" cy="1280160"/>
          </a:xfrm>
          <a:prstGeom prst="arc">
            <a:avLst/>
          </a:prstGeom>
          <a:noFill/>
          <a:ln w="10160">
            <a:solidFill>
              <a:srgbClr val="6E8F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iamond 15"/>
          <p:cNvSpPr/>
          <p:nvPr/>
        </p:nvSpPr>
        <p:spPr>
          <a:xfrm>
            <a:off x="11292840" y="137160"/>
            <a:ext cx="438912" cy="822960"/>
          </a:xfrm>
          <a:prstGeom prst="diamond">
            <a:avLst/>
          </a:prstGeom>
          <a:solidFill>
            <a:srgbClr val="E2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amond 16"/>
          <p:cNvSpPr/>
          <p:nvPr/>
        </p:nvSpPr>
        <p:spPr>
          <a:xfrm>
            <a:off x="0" y="5303520"/>
            <a:ext cx="347472" cy="868680"/>
          </a:xfrm>
          <a:prstGeom prst="diamond">
            <a:avLst/>
          </a:prstGeom>
          <a:solidFill>
            <a:srgbClr val="E2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86000" y="1828800"/>
            <a:ext cx="7589520" cy="1179830"/>
          </a:xfrm>
          <a:prstGeom prst="rect">
            <a:avLst/>
          </a:prstGeom>
          <a:noFill/>
        </p:spPr>
        <p:txBody>
          <a:bodyPr wrap="square" lIns="36576" tIns="36576" rIns="36576" bIns="36576" anchor="t">
            <a:spAutoFit/>
          </a:bodyPr>
          <a:lstStyle/>
          <a:p>
            <a:pPr algn="ctr">
              <a:defRPr sz="4400" b="1">
                <a:solidFill>
                  <a:srgbClr val="375B75"/>
                </a:solidFill>
                <a:latin typeface="Aptos Display"/>
              </a:defRPr>
            </a:pPr>
            <a:r>
              <a:rPr sz="7200"/>
              <a:t>THANK</a:t>
            </a:r>
            <a:endParaRPr sz="7200"/>
          </a:p>
        </p:txBody>
      </p:sp>
      <p:sp>
        <p:nvSpPr>
          <p:cNvPr id="19" name="TextBox 18"/>
          <p:cNvSpPr txBox="1"/>
          <p:nvPr/>
        </p:nvSpPr>
        <p:spPr>
          <a:xfrm>
            <a:off x="2286000" y="2837815"/>
            <a:ext cx="7589520" cy="1179830"/>
          </a:xfrm>
          <a:prstGeom prst="rect">
            <a:avLst/>
          </a:prstGeom>
          <a:noFill/>
        </p:spPr>
        <p:txBody>
          <a:bodyPr wrap="square" lIns="36576" tIns="36576" rIns="36576" bIns="36576" anchor="t">
            <a:spAutoFit/>
          </a:bodyPr>
          <a:lstStyle/>
          <a:p>
            <a:pPr algn="ctr">
              <a:defRPr sz="4400" b="1">
                <a:solidFill>
                  <a:srgbClr val="375B75"/>
                </a:solidFill>
                <a:latin typeface="Aptos Display"/>
              </a:defRPr>
            </a:pPr>
            <a:r>
              <a:rPr sz="7200"/>
              <a:t>YOU</a:t>
            </a:r>
            <a:endParaRPr sz="72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3429</Words>
  <Application>WPS Presentation</Application>
  <PresentationFormat>On-screen Show (4:3)</PresentationFormat>
  <Paragraphs>202</Paragraphs>
  <Slides>11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11</vt:i4>
      </vt:variant>
    </vt:vector>
  </HeadingPairs>
  <TitlesOfParts>
    <vt:vector size="24" baseType="lpstr">
      <vt:lpstr>Arial</vt:lpstr>
      <vt:lpstr>SimSun</vt:lpstr>
      <vt:lpstr>Wingdings</vt:lpstr>
      <vt:lpstr>Arial</vt:lpstr>
      <vt:lpstr>Aptos</vt:lpstr>
      <vt:lpstr>Segoe UI</vt:lpstr>
      <vt:lpstr>Aptos Display</vt:lpstr>
      <vt:lpstr>Segoe UI Variable Display</vt:lpstr>
      <vt:lpstr>Calibri</vt:lpstr>
      <vt:lpstr>Microsoft YaHei</vt:lpstr>
      <vt:lpstr>Arial Unicode MS</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THANU</cp:lastModifiedBy>
  <cp:revision>2</cp:revision>
  <dcterms:created xsi:type="dcterms:W3CDTF">2013-01-27T09:14:00Z</dcterms:created>
  <dcterms:modified xsi:type="dcterms:W3CDTF">2026-10-17T05:32:45Z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514682741DD34C8B9302C8B0EE6BA8D6_12</vt:lpwstr>
  </property>
</Properties>
</file>